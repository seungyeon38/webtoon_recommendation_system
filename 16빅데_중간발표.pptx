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80" r:id="rId4"/>
    <p:sldId id="272" r:id="rId5"/>
    <p:sldId id="279" r:id="rId6"/>
    <p:sldId id="273" r:id="rId7"/>
    <p:sldId id="274" r:id="rId8"/>
    <p:sldId id="276" r:id="rId9"/>
    <p:sldId id="278" r:id="rId10"/>
    <p:sldId id="271" r:id="rId11"/>
  </p:sldIdLst>
  <p:sldSz cx="12192000" cy="6858000"/>
  <p:notesSz cx="6858000" cy="9144000"/>
  <p:embeddedFontLst>
    <p:embeddedFont>
      <p:font typeface="Malgun Gothic" panose="020B0503020000020004" pitchFamily="34" charset="-127"/>
      <p:regular r:id="rId13"/>
      <p:bold r:id="rId14"/>
    </p:embeddedFont>
    <p:embeddedFont>
      <p:font typeface="S-Core Dream 4 Regular" panose="020B0203030302020204" pitchFamily="34" charset="-127"/>
      <p:regular r:id="rId15"/>
    </p:embeddedFont>
    <p:embeddedFont>
      <p:font typeface="S-Core Dream 5 Medium" panose="020B0503030302020204" pitchFamily="34" charset="-127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mRgvplvWouS9MYHcn85uCLwD2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B"/>
    <a:srgbClr val="FFE7E7"/>
    <a:srgbClr val="51DBA0"/>
    <a:srgbClr val="FFFFFF"/>
    <a:srgbClr val="9FEBCA"/>
    <a:srgbClr val="B6F0D7"/>
    <a:srgbClr val="E6FAF1"/>
    <a:srgbClr val="DCF8EC"/>
    <a:srgbClr val="FFEBEB"/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2"/>
    <p:restoredTop sz="76735"/>
  </p:normalViewPr>
  <p:slideViewPr>
    <p:cSldViewPr snapToGrid="0">
      <p:cViewPr varScale="1">
        <p:scale>
          <a:sx n="103" d="100"/>
          <a:sy n="103" d="100"/>
        </p:scale>
        <p:origin x="1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endParaRPr lang="en-US" altLang="ko-Kore-K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20aa02afa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g1020aa02afa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515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1336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052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720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456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8123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944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482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192103" y="1714482"/>
            <a:ext cx="38199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353538" y="1831739"/>
            <a:ext cx="35418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95959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BIGDATA TERM PROJECT</a:t>
            </a:r>
            <a:endParaRPr sz="1400" b="0" i="0" u="none" strike="noStrike" cap="none" dirty="0">
              <a:solidFill>
                <a:srgbClr val="595959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478936" y="18846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7014907" y="1280068"/>
            <a:ext cx="996979" cy="255149"/>
            <a:chOff x="9689491" y="466716"/>
            <a:chExt cx="996979" cy="255149"/>
          </a:xfrm>
        </p:grpSpPr>
        <p:sp>
          <p:nvSpPr>
            <p:cNvPr id="88" name="Google Shape;88;p1"/>
            <p:cNvSpPr/>
            <p:nvPr/>
          </p:nvSpPr>
          <p:spPr>
            <a:xfrm>
              <a:off x="9689491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0063684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0437008" y="472403"/>
              <a:ext cx="249462" cy="249462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0132540" y="545008"/>
              <a:ext cx="103983" cy="103983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2700000">
              <a:off x="10492447" y="589222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-2700000">
              <a:off x="10492446" y="586380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endParaRPr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3048000" y="2340361"/>
            <a:ext cx="60960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79E3B6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WEBTOON RECOMMENDATION SYSTEM</a:t>
            </a:r>
            <a:r>
              <a:rPr lang="en-US" sz="4000" b="1" i="0" u="none" strike="noStrike" cap="none" dirty="0">
                <a:solidFill>
                  <a:srgbClr val="79E3B6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  <a:sym typeface="Arial"/>
              </a:rPr>
              <a:t> </a:t>
            </a:r>
            <a:endParaRPr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BFBFB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sym typeface="Arial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699FBFA-1933-4FA3-B416-5B839CC0F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97" y="4832893"/>
            <a:ext cx="662674" cy="654272"/>
          </a:xfrm>
          <a:prstGeom prst="rect">
            <a:avLst/>
          </a:prstGeom>
          <a:ln>
            <a:noFill/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7AB5778-ABE0-402D-B487-80D1F6B082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777" y="4823189"/>
            <a:ext cx="663976" cy="663976"/>
          </a:xfrm>
          <a:prstGeom prst="rect">
            <a:avLst/>
          </a:prstGeom>
          <a:ln>
            <a:noFill/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42868FA-B6D3-463D-9A3C-D760EF205A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059" y="4832893"/>
            <a:ext cx="663976" cy="66397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FABC1-1D34-41F9-BD69-1EBDA1F4030A}"/>
              </a:ext>
            </a:extLst>
          </p:cNvPr>
          <p:cNvSpPr txBox="1"/>
          <p:nvPr/>
        </p:nvSpPr>
        <p:spPr>
          <a:xfrm>
            <a:off x="3013299" y="5487166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20153262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이현지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632A5-4C34-4A26-A0F4-857037CA4336}"/>
              </a:ext>
            </a:extLst>
          </p:cNvPr>
          <p:cNvSpPr txBox="1"/>
          <p:nvPr/>
        </p:nvSpPr>
        <p:spPr>
          <a:xfrm>
            <a:off x="5325930" y="5487165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20174127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이영재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365E77-ED26-43CC-AC50-995CE32E71B5}"/>
              </a:ext>
            </a:extLst>
          </p:cNvPr>
          <p:cNvSpPr txBox="1"/>
          <p:nvPr/>
        </p:nvSpPr>
        <p:spPr>
          <a:xfrm>
            <a:off x="7638561" y="5492568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20170217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이승연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1" y="242595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 dirty="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Methodology</a:t>
            </a:r>
            <a:endParaRPr sz="20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35C57F-97D1-4F50-B23E-E18D7A75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24" y="1558412"/>
            <a:ext cx="4289813" cy="45269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4041525" y="3429000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5E9CD-CAE0-4F27-BDB0-CE59B0E7C624}"/>
              </a:ext>
            </a:extLst>
          </p:cNvPr>
          <p:cNvSpPr txBox="1"/>
          <p:nvPr/>
        </p:nvSpPr>
        <p:spPr>
          <a:xfrm>
            <a:off x="4173712" y="3358313"/>
            <a:ext cx="1513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Similar Webtoons</a:t>
            </a:r>
            <a:endParaRPr lang="ko-KR" altLang="en-US" sz="1600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B1327-D3B9-4087-8368-F546C086EA73}"/>
              </a:ext>
            </a:extLst>
          </p:cNvPr>
          <p:cNvSpPr txBox="1"/>
          <p:nvPr/>
        </p:nvSpPr>
        <p:spPr>
          <a:xfrm>
            <a:off x="5943600" y="2349536"/>
            <a:ext cx="52247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solidFill>
                  <a:srgbClr val="51DBA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CONTENT – BASED FILTERING</a:t>
            </a:r>
          </a:p>
          <a:p>
            <a:endParaRPr lang="en-US" altLang="ko-KR" sz="2200" b="1" dirty="0">
              <a:solidFill>
                <a:srgbClr val="323F4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endParaRPr lang="en-US" altLang="ko-KR" sz="2200" b="1" dirty="0">
              <a:solidFill>
                <a:srgbClr val="323F4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r>
              <a:rPr lang="ko-KR" altLang="en-US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사용자에게서 과거에 만족한 웹툰을 입력 받음</a:t>
            </a:r>
            <a:endParaRPr lang="en-US" altLang="ko-KR" sz="1800" dirty="0">
              <a:solidFill>
                <a:srgbClr val="323F4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endParaRPr lang="en-US" altLang="ko-KR" sz="1800" dirty="0">
              <a:solidFill>
                <a:srgbClr val="323F4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-&gt; </a:t>
            </a:r>
            <a:r>
              <a:rPr lang="ko-KR" altLang="en-US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입력된 웹툰과 유사도가 높은 웹툰을 선정</a:t>
            </a:r>
            <a:endParaRPr lang="en-US" altLang="ko-KR" sz="1800" dirty="0">
              <a:solidFill>
                <a:srgbClr val="323F4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endParaRPr lang="en-US" altLang="ko-KR" sz="1800" dirty="0">
              <a:solidFill>
                <a:srgbClr val="323F4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-&gt; </a:t>
            </a:r>
            <a:r>
              <a:rPr lang="ko-KR" altLang="en-US" sz="1800" dirty="0">
                <a:solidFill>
                  <a:srgbClr val="323F4F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선정된 웹툰을 추천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20aa02afa_1_37"/>
          <p:cNvSpPr/>
          <p:nvPr/>
        </p:nvSpPr>
        <p:spPr>
          <a:xfrm>
            <a:off x="269032" y="242504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g1020aa02afa_1_37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1020aa02afa_1_37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1020aa02afa_1_37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7" name="Google Shape;187;g1020aa02afa_1_37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88" name="Google Shape;188;g1020aa02afa_1_37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9" name="Google Shape;189;g1020aa02afa_1_37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g1020aa02afa_1_37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g1020aa02afa_1_37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92;g1020aa02afa_1_37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g1020aa02afa_1_37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194;g1020aa02afa_1_37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5" name="Google Shape;195;g1020aa02afa_1_37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196" name="Google Shape;196;g1020aa02afa_1_37"/>
          <p:cNvSpPr txBox="1"/>
          <p:nvPr/>
        </p:nvSpPr>
        <p:spPr>
          <a:xfrm>
            <a:off x="1100025" y="1027088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4 Regular" panose="020B0203030302020204" pitchFamily="34" charset="-127"/>
                <a:ea typeface="S-Core Dream 4 Regular" panose="020B0203030302020204" pitchFamily="34" charset="-127"/>
                <a:cs typeface="Malgun Gothic"/>
                <a:sym typeface="Malgun Gothic"/>
              </a:rPr>
              <a:t>Analysis plan</a:t>
            </a:r>
            <a:endParaRPr sz="2000" dirty="0"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EEA18E-5294-4AE9-B2EF-279DDA8AE37B}"/>
              </a:ext>
            </a:extLst>
          </p:cNvPr>
          <p:cNvSpPr/>
          <p:nvPr/>
        </p:nvSpPr>
        <p:spPr>
          <a:xfrm>
            <a:off x="4680870" y="2064467"/>
            <a:ext cx="5802390" cy="3421929"/>
          </a:xfrm>
          <a:prstGeom prst="roundRect">
            <a:avLst/>
          </a:prstGeom>
          <a:solidFill>
            <a:srgbClr val="FFFFEB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60164-2B11-45EE-8FDF-AF07BE84EA16}"/>
              </a:ext>
            </a:extLst>
          </p:cNvPr>
          <p:cNvSpPr txBox="1"/>
          <p:nvPr/>
        </p:nvSpPr>
        <p:spPr>
          <a:xfrm>
            <a:off x="5191838" y="1633620"/>
            <a:ext cx="5187314" cy="3388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   Rating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  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Genre     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  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Summary            keyword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추출</a:t>
            </a:r>
          </a:p>
        </p:txBody>
      </p:sp>
      <p:sp>
        <p:nvSpPr>
          <p:cNvPr id="21" name="Google Shape;172;p3">
            <a:extLst>
              <a:ext uri="{FF2B5EF4-FFF2-40B4-BE49-F238E27FC236}">
                <a16:creationId xmlns:a16="http://schemas.microsoft.com/office/drawing/2014/main" id="{6D6F2440-2A77-400E-BB2E-42029E771958}"/>
              </a:ext>
            </a:extLst>
          </p:cNvPr>
          <p:cNvSpPr/>
          <p:nvPr/>
        </p:nvSpPr>
        <p:spPr>
          <a:xfrm rot="16200000">
            <a:off x="7070182" y="4554565"/>
            <a:ext cx="492412" cy="4828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6F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u="none" strike="noStrike" cap="none">
              <a:solidFill>
                <a:schemeClr val="lt1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22" name="Google Shape;140;g1020aa02afa_0_20">
            <a:extLst>
              <a:ext uri="{FF2B5EF4-FFF2-40B4-BE49-F238E27FC236}">
                <a16:creationId xmlns:a16="http://schemas.microsoft.com/office/drawing/2014/main" id="{4EBC5E1A-BB3E-4E32-81DB-ACDF039F8D7E}"/>
              </a:ext>
            </a:extLst>
          </p:cNvPr>
          <p:cNvSpPr txBox="1"/>
          <p:nvPr/>
        </p:nvSpPr>
        <p:spPr>
          <a:xfrm>
            <a:off x="1812848" y="1546811"/>
            <a:ext cx="3000000" cy="44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&lt; Columns &gt;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Id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Name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Writer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Likes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Genre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Rating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Subscribers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Summary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Update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 Reading Link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6" name="Google Shape;214;p3">
            <a:extLst>
              <a:ext uri="{FF2B5EF4-FFF2-40B4-BE49-F238E27FC236}">
                <a16:creationId xmlns:a16="http://schemas.microsoft.com/office/drawing/2014/main" id="{CEDB63B5-7DB2-40E0-B4FF-16875BBC8761}"/>
              </a:ext>
            </a:extLst>
          </p:cNvPr>
          <p:cNvSpPr/>
          <p:nvPr/>
        </p:nvSpPr>
        <p:spPr>
          <a:xfrm>
            <a:off x="5214634" y="4718775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none" strike="noStrike" cap="none" dirty="0">
              <a:solidFill>
                <a:srgbClr val="FFFFF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27" name="Google Shape;214;p3">
            <a:extLst>
              <a:ext uri="{FF2B5EF4-FFF2-40B4-BE49-F238E27FC236}">
                <a16:creationId xmlns:a16="http://schemas.microsoft.com/office/drawing/2014/main" id="{529D4D69-5EA0-4E6F-B2AF-1740E66AC4F5}"/>
              </a:ext>
            </a:extLst>
          </p:cNvPr>
          <p:cNvSpPr/>
          <p:nvPr/>
        </p:nvSpPr>
        <p:spPr>
          <a:xfrm>
            <a:off x="5217525" y="2739300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none" strike="noStrike" cap="none" dirty="0">
              <a:solidFill>
                <a:srgbClr val="FFFFF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29" name="Google Shape;214;p3">
            <a:extLst>
              <a:ext uri="{FF2B5EF4-FFF2-40B4-BE49-F238E27FC236}">
                <a16:creationId xmlns:a16="http://schemas.microsoft.com/office/drawing/2014/main" id="{671CDF6D-8D55-A94B-A416-48C9E4D35813}"/>
              </a:ext>
            </a:extLst>
          </p:cNvPr>
          <p:cNvSpPr/>
          <p:nvPr/>
        </p:nvSpPr>
        <p:spPr>
          <a:xfrm>
            <a:off x="5210866" y="3664117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none" strike="noStrike" cap="none" dirty="0">
              <a:solidFill>
                <a:srgbClr val="FFFFFF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9A92FC-4225-F440-81AE-46533FA293F8}"/>
              </a:ext>
            </a:extLst>
          </p:cNvPr>
          <p:cNvSpPr/>
          <p:nvPr/>
        </p:nvSpPr>
        <p:spPr>
          <a:xfrm>
            <a:off x="5289584" y="4082728"/>
            <a:ext cx="1731564" cy="4616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필요 시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,</a:t>
            </a: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28557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1" y="242595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Previous Algorithm</a:t>
            </a:r>
            <a:endParaRPr sz="20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4041525" y="3429000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F05CF93B-4A2C-3541-A88D-1C0B02CA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437" y="999072"/>
            <a:ext cx="4309801" cy="5382546"/>
          </a:xfrm>
          <a:prstGeom prst="rect">
            <a:avLst/>
          </a:prstGeom>
          <a:ln w="12700">
            <a:solidFill>
              <a:schemeClr val="tx2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28734E-DB6C-9D4C-8540-925E66BBF76A}"/>
              </a:ext>
            </a:extLst>
          </p:cNvPr>
          <p:cNvSpPr/>
          <p:nvPr/>
        </p:nvSpPr>
        <p:spPr>
          <a:xfrm>
            <a:off x="7170470" y="1949860"/>
            <a:ext cx="540775" cy="184727"/>
          </a:xfrm>
          <a:prstGeom prst="rect">
            <a:avLst/>
          </a:prstGeom>
          <a:solidFill>
            <a:schemeClr val="accent4">
              <a:lumMod val="20000"/>
              <a:lumOff val="80000"/>
              <a:alpha val="27031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6770EF-8705-5643-8315-AC459D618602}"/>
              </a:ext>
            </a:extLst>
          </p:cNvPr>
          <p:cNvSpPr/>
          <p:nvPr/>
        </p:nvSpPr>
        <p:spPr>
          <a:xfrm>
            <a:off x="7828608" y="2690027"/>
            <a:ext cx="366048" cy="184728"/>
          </a:xfrm>
          <a:prstGeom prst="rect">
            <a:avLst/>
          </a:prstGeom>
          <a:solidFill>
            <a:schemeClr val="accent4">
              <a:lumMod val="20000"/>
              <a:lumOff val="80000"/>
              <a:alpha val="27031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8459FB-D7F5-BA48-A6C1-CE73363C8F63}"/>
              </a:ext>
            </a:extLst>
          </p:cNvPr>
          <p:cNvSpPr/>
          <p:nvPr/>
        </p:nvSpPr>
        <p:spPr>
          <a:xfrm>
            <a:off x="7187504" y="3983246"/>
            <a:ext cx="995504" cy="184727"/>
          </a:xfrm>
          <a:prstGeom prst="rect">
            <a:avLst/>
          </a:prstGeom>
          <a:solidFill>
            <a:schemeClr val="accent4">
              <a:lumMod val="20000"/>
              <a:lumOff val="80000"/>
              <a:alpha val="27031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41DE72-A861-1746-8074-7CE71FC5B876}"/>
              </a:ext>
            </a:extLst>
          </p:cNvPr>
          <p:cNvSpPr/>
          <p:nvPr/>
        </p:nvSpPr>
        <p:spPr>
          <a:xfrm>
            <a:off x="7578696" y="5924268"/>
            <a:ext cx="394639" cy="184727"/>
          </a:xfrm>
          <a:prstGeom prst="rect">
            <a:avLst/>
          </a:prstGeom>
          <a:solidFill>
            <a:schemeClr val="accent4">
              <a:lumMod val="20000"/>
              <a:lumOff val="80000"/>
              <a:alpha val="27031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517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1" y="242595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Previous Algorithm</a:t>
            </a:r>
            <a:endParaRPr sz="20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4041525" y="3429000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B1327-D3B9-4087-8368-F546C086EA73}"/>
              </a:ext>
            </a:extLst>
          </p:cNvPr>
          <p:cNvSpPr txBox="1"/>
          <p:nvPr/>
        </p:nvSpPr>
        <p:spPr>
          <a:xfrm>
            <a:off x="2544460" y="1744043"/>
            <a:ext cx="710294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51DBA0"/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CONTENT – BASED FILTERING</a:t>
            </a:r>
          </a:p>
          <a:p>
            <a:pPr algn="ctr"/>
            <a:endParaRPr lang="en-US" altLang="ko-KR" sz="1800" dirty="0">
              <a:solidFill>
                <a:schemeClr val="bg2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Ex&gt; 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장르 속성을 이용한 영화 추천 시스템</a:t>
            </a:r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Genres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컬럼</a:t>
            </a:r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-&gt; </a:t>
            </a:r>
            <a:r>
              <a:rPr lang="en-US" altLang="ko-KR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CountVectorizer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로 피처벡터화 행렬로 변환</a:t>
            </a:r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-&gt; 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행렬 데이터 값을 코사인 유사도로 비교</a:t>
            </a:r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pPr algn="ctr"/>
            <a:r>
              <a:rPr lang="en-US" altLang="ko-K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-&gt; </a:t>
            </a:r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장르 유사도가 높은 영화 중 평점이 높은 순으로 유사한 영화 추천</a:t>
            </a:r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18" name="Google Shape;176;g1020aa02afa_1_20">
            <a:extLst>
              <a:ext uri="{FF2B5EF4-FFF2-40B4-BE49-F238E27FC236}">
                <a16:creationId xmlns:a16="http://schemas.microsoft.com/office/drawing/2014/main" id="{DB3FCE3C-D091-2247-A6B5-F61CC6754388}"/>
              </a:ext>
            </a:extLst>
          </p:cNvPr>
          <p:cNvSpPr txBox="1"/>
          <p:nvPr/>
        </p:nvSpPr>
        <p:spPr>
          <a:xfrm>
            <a:off x="672535" y="2933178"/>
            <a:ext cx="5883000" cy="96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영화</a:t>
            </a:r>
            <a:r>
              <a:rPr lang="en-US" altLang="ko-KR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 A</a:t>
            </a:r>
            <a:r>
              <a:rPr lang="ko-KR" altLang="en-US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의 </a:t>
            </a:r>
            <a:r>
              <a:rPr lang="en-US" altLang="ko-KR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genres</a:t>
            </a:r>
          </a:p>
          <a:p>
            <a:pPr lvl="0" algn="ctr">
              <a:lnSpc>
                <a:spcPct val="150000"/>
              </a:lnSpc>
            </a:pPr>
            <a:r>
              <a:rPr lang="en-US" altLang="ko-Kore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[Action, Adventure, Fantasy, Science Fiction ] </a:t>
            </a:r>
            <a:endParaRPr lang="en-US" sz="16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149FB3-6597-9645-BBA5-05936C86F677}"/>
              </a:ext>
            </a:extLst>
          </p:cNvPr>
          <p:cNvSpPr/>
          <p:nvPr/>
        </p:nvSpPr>
        <p:spPr>
          <a:xfrm>
            <a:off x="5748421" y="2994565"/>
            <a:ext cx="6096000" cy="83599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ko-KR" altLang="en-US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영화</a:t>
            </a:r>
            <a:r>
              <a:rPr lang="en-US" altLang="ko-KR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 B</a:t>
            </a:r>
            <a:r>
              <a:rPr lang="ko-KR" altLang="en-US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의 </a:t>
            </a:r>
            <a:r>
              <a:rPr lang="en-US" altLang="ko-KR" sz="18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genres</a:t>
            </a:r>
          </a:p>
          <a:p>
            <a:pPr lvl="0" algn="ctr">
              <a:lnSpc>
                <a:spcPct val="150000"/>
              </a:lnSpc>
            </a:pPr>
            <a:r>
              <a:rPr lang="en-US" altLang="ko-Kore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[Adventure, Fantasy, Action]</a:t>
            </a:r>
            <a:endParaRPr lang="en-US" altLang="ko-KR" sz="2400" dirty="0"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67435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1" y="242595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Previous Algorithm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4041525" y="3429000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B1327-D3B9-4087-8368-F546C086EA73}"/>
              </a:ext>
            </a:extLst>
          </p:cNvPr>
          <p:cNvSpPr txBox="1"/>
          <p:nvPr/>
        </p:nvSpPr>
        <p:spPr>
          <a:xfrm>
            <a:off x="2699658" y="1653613"/>
            <a:ext cx="6579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webtoon</a:t>
            </a:r>
            <a:r>
              <a:rPr lang="ko-KR" altLang="en-US" sz="18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r>
              <a:rPr lang="en-US" altLang="ko-KR" sz="18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comics dataset</a:t>
            </a:r>
            <a:r>
              <a:rPr lang="ko-KR" altLang="en-US" sz="18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을 앞의 알고리즘에 적용 시킨 결과 </a:t>
            </a:r>
          </a:p>
          <a:p>
            <a:endParaRPr lang="en-US" altLang="ko-KR" sz="1800" dirty="0">
              <a:solidFill>
                <a:schemeClr val="tx1">
                  <a:lumMod val="95000"/>
                  <a:lumOff val="5000"/>
                </a:schemeClr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0" name="Google Shape;172;p3">
            <a:extLst>
              <a:ext uri="{FF2B5EF4-FFF2-40B4-BE49-F238E27FC236}">
                <a16:creationId xmlns:a16="http://schemas.microsoft.com/office/drawing/2014/main" id="{39883C18-1204-4EC3-B71B-E69C90ABB576}"/>
              </a:ext>
            </a:extLst>
          </p:cNvPr>
          <p:cNvSpPr/>
          <p:nvPr/>
        </p:nvSpPr>
        <p:spPr>
          <a:xfrm>
            <a:off x="5743019" y="2159756"/>
            <a:ext cx="492412" cy="4828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6F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b="1" i="0" u="none" strike="noStrike" cap="none">
              <a:solidFill>
                <a:schemeClr val="lt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34B65F-E90E-40BF-9CBD-7E2D99CD5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19" y="2825537"/>
            <a:ext cx="8726823" cy="337124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02215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2" y="242504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Previous Algorithm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9535386" y="2268238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1B776-4A53-4606-B634-7F89A23E3DCB}"/>
              </a:ext>
            </a:extLst>
          </p:cNvPr>
          <p:cNvSpPr txBox="1"/>
          <p:nvPr/>
        </p:nvSpPr>
        <p:spPr>
          <a:xfrm>
            <a:off x="893815" y="1820382"/>
            <a:ext cx="1050647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</a:t>
            </a:r>
            <a:r>
              <a:rPr lang="ko-KR" alt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문제점</a:t>
            </a:r>
            <a:endParaRPr lang="en-US" altLang="ko-KR" sz="2000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  <a:p>
            <a:endParaRPr lang="en-US" altLang="ko-KR" sz="1800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webtoon</a:t>
            </a:r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comics dataset</a:t>
            </a:r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의 </a:t>
            </a:r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genre </a:t>
            </a:r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컬럼 속성 </a:t>
            </a:r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-&gt; </a:t>
            </a:r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각 웹툰마다 여러 개 가 아닌</a:t>
            </a:r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r>
              <a:rPr lang="ko-KR" altLang="en-US" sz="1600" b="1" dirty="0">
                <a:solidFill>
                  <a:srgbClr val="51DBA0"/>
                </a:solidFill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하나</a:t>
            </a:r>
            <a:endParaRPr lang="en-US" altLang="ko-KR" sz="1600" b="1" dirty="0">
              <a:solidFill>
                <a:srgbClr val="51DBA0"/>
              </a:solidFill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endParaRPr lang="en-US" altLang="ko-KR" sz="1600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즉</a:t>
            </a:r>
            <a:r>
              <a:rPr lang="en-US" altLang="ko-KR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, </a:t>
            </a:r>
            <a:r>
              <a:rPr lang="ko-KR" altLang="en-US" sz="1600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결과는 단순히 같은 장르 안에서 평점 순으로 나열한 것뿐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</a:t>
            </a:r>
            <a:endParaRPr lang="en-US" altLang="ko-KR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23" name="Google Shape;176;g1020aa02afa_1_20">
            <a:extLst>
              <a:ext uri="{FF2B5EF4-FFF2-40B4-BE49-F238E27FC236}">
                <a16:creationId xmlns:a16="http://schemas.microsoft.com/office/drawing/2014/main" id="{1972AA52-CF12-B242-BC5D-4B6090AB6DD9}"/>
              </a:ext>
            </a:extLst>
          </p:cNvPr>
          <p:cNvSpPr txBox="1"/>
          <p:nvPr/>
        </p:nvSpPr>
        <p:spPr>
          <a:xfrm>
            <a:off x="-367418" y="3746488"/>
            <a:ext cx="58830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영화</a:t>
            </a:r>
            <a:r>
              <a:rPr lang="en-US" altLang="ko-KR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 A</a:t>
            </a:r>
            <a:r>
              <a:rPr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의 </a:t>
            </a:r>
            <a:r>
              <a:rPr lang="en-US" altLang="ko-KR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genres</a:t>
            </a:r>
          </a:p>
          <a:p>
            <a:pPr lvl="0" algn="ctr">
              <a:lnSpc>
                <a:spcPct val="150000"/>
              </a:lnSpc>
            </a:pPr>
            <a:r>
              <a:rPr lang="en-US" altLang="ko-Kore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[Action, Adventure, Fantasy, Science Fiction ] </a:t>
            </a:r>
            <a:endParaRPr lang="en-US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5239CA-718D-F74B-B9DC-65FE1FE149F9}"/>
              </a:ext>
            </a:extLst>
          </p:cNvPr>
          <p:cNvSpPr/>
          <p:nvPr/>
        </p:nvSpPr>
        <p:spPr>
          <a:xfrm>
            <a:off x="-473918" y="4813198"/>
            <a:ext cx="6096000" cy="70269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영화</a:t>
            </a:r>
            <a:r>
              <a:rPr lang="en-US" altLang="ko-KR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 B</a:t>
            </a:r>
            <a:r>
              <a:rPr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의 </a:t>
            </a:r>
            <a:r>
              <a:rPr lang="en-US" altLang="ko-KR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genres</a:t>
            </a:r>
          </a:p>
          <a:p>
            <a:pPr lvl="0" algn="ctr">
              <a:lnSpc>
                <a:spcPct val="150000"/>
              </a:lnSpc>
            </a:pPr>
            <a:r>
              <a:rPr lang="en-US" altLang="ko-Kore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[Adventure, Fantasy, Action]</a:t>
            </a:r>
            <a:endParaRPr lang="en-US" altLang="ko-KR" dirty="0">
              <a:latin typeface="S-Core Dream 4 Regular" panose="020B0203030302020204" pitchFamily="34" charset="-127"/>
              <a:ea typeface="S-Core Dream 4 Regular" panose="020B0203030302020204" pitchFamily="34" charset="-127"/>
              <a:cs typeface="Malgun Gothic"/>
              <a:sym typeface="Malgun Gothic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94ED5F-3AE0-4745-9574-9AB8B4E843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509"/>
          <a:stretch/>
        </p:blipFill>
        <p:spPr>
          <a:xfrm>
            <a:off x="4838171" y="3338032"/>
            <a:ext cx="6798635" cy="311629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CC9B59-737C-9842-AA4E-24686F8F2578}"/>
              </a:ext>
            </a:extLst>
          </p:cNvPr>
          <p:cNvSpPr/>
          <p:nvPr/>
        </p:nvSpPr>
        <p:spPr>
          <a:xfrm>
            <a:off x="6441432" y="3338032"/>
            <a:ext cx="751962" cy="311629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71EC951-83F5-8341-B113-C37BF13ACC30}"/>
              </a:ext>
            </a:extLst>
          </p:cNvPr>
          <p:cNvGrpSpPr/>
          <p:nvPr/>
        </p:nvGrpSpPr>
        <p:grpSpPr>
          <a:xfrm>
            <a:off x="1132254" y="1488304"/>
            <a:ext cx="9973682" cy="4419560"/>
            <a:chOff x="1128021" y="1785955"/>
            <a:chExt cx="9973682" cy="441956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7582849-007E-9542-A658-D3E0F63ACE54}"/>
                </a:ext>
              </a:extLst>
            </p:cNvPr>
            <p:cNvSpPr/>
            <p:nvPr/>
          </p:nvSpPr>
          <p:spPr>
            <a:xfrm>
              <a:off x="1128021" y="1785955"/>
              <a:ext cx="9973682" cy="4419560"/>
            </a:xfrm>
            <a:prstGeom prst="ellipse">
              <a:avLst/>
            </a:prstGeom>
            <a:solidFill>
              <a:srgbClr val="FFFFEB"/>
            </a:solidFill>
            <a:ln>
              <a:solidFill>
                <a:schemeClr val="tx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95DEB07-AC56-0946-8DBE-03A6B165B27D}"/>
                </a:ext>
              </a:extLst>
            </p:cNvPr>
            <p:cNvSpPr txBox="1"/>
            <p:nvPr/>
          </p:nvSpPr>
          <p:spPr>
            <a:xfrm>
              <a:off x="1602011" y="2249277"/>
              <a:ext cx="9028164" cy="295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dirty="0"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 </a:t>
              </a:r>
              <a:endParaRPr lang="en-US" altLang="ko-KR" sz="3600" dirty="0"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  <a:p>
              <a:pPr algn="ctr"/>
              <a:r>
                <a:rPr lang="ko-KR" altLang="en-US" sz="2600" dirty="0">
                  <a:latin typeface="S-Core Dream 5 Medium" panose="020B0503030302020204" pitchFamily="34" charset="-127"/>
                  <a:ea typeface="S-Core Dream 5 Medium" panose="020B0503030302020204" pitchFamily="34" charset="-127"/>
                </a:rPr>
                <a:t>해결책</a:t>
              </a:r>
              <a:endParaRPr lang="en-US" altLang="ko-KR" sz="2600" dirty="0"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  <a:p>
              <a:pPr algn="ctr"/>
              <a:endParaRPr lang="en-US" altLang="ko-KR" sz="3600" dirty="0">
                <a:latin typeface="S-Core Dream 5 Medium" panose="020B0503030302020204" pitchFamily="34" charset="-127"/>
                <a:ea typeface="S-Core Dream 5 Medium" panose="020B0503030302020204" pitchFamily="34" charset="-127"/>
              </a:endParaRPr>
            </a:p>
            <a:p>
              <a:pPr algn="ctr"/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webtoon comics dataset</a:t>
              </a:r>
              <a:r>
                <a:rPr lang="ko-KR" altLang="en-US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의 </a:t>
              </a:r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Summary </a:t>
              </a:r>
              <a:r>
                <a:rPr lang="ko-KR" altLang="en-US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컬럼에서 </a:t>
              </a:r>
              <a:endParaRPr lang="en-US" altLang="ko-KR" sz="2200" dirty="0">
                <a:latin typeface="S-Core Dream 4 Regular" panose="020B0203030302020204" pitchFamily="34" charset="-127"/>
                <a:ea typeface="S-Core Dream 4 Regular" panose="020B0203030302020204" pitchFamily="34" charset="-127"/>
              </a:endParaRPr>
            </a:p>
            <a:p>
              <a:pPr algn="ctr"/>
              <a:r>
                <a:rPr lang="en-US" altLang="ko-KR" sz="2200" b="1" dirty="0">
                  <a:solidFill>
                    <a:srgbClr val="51DBA0"/>
                  </a:solidFill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keyword</a:t>
              </a:r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 </a:t>
              </a:r>
              <a:r>
                <a:rPr lang="ko-KR" altLang="en-US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추출</a:t>
              </a:r>
              <a:endParaRPr lang="en-US" altLang="ko-KR" sz="2200" dirty="0">
                <a:latin typeface="S-Core Dream 4 Regular" panose="020B0203030302020204" pitchFamily="34" charset="-127"/>
                <a:ea typeface="S-Core Dream 4 Regular" panose="020B0203030302020204" pitchFamily="34" charset="-127"/>
              </a:endParaRPr>
            </a:p>
            <a:p>
              <a:pPr algn="ctr"/>
              <a:endParaRPr lang="en-US" altLang="ko-KR" sz="2200" dirty="0">
                <a:latin typeface="S-Core Dream 4 Regular" panose="020B0203030302020204" pitchFamily="34" charset="-127"/>
                <a:ea typeface="S-Core Dream 4 Regular" panose="020B0203030302020204" pitchFamily="34" charset="-127"/>
              </a:endParaRPr>
            </a:p>
            <a:p>
              <a:pPr algn="ctr"/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: NLP</a:t>
              </a:r>
              <a:r>
                <a:rPr lang="ko-KR" altLang="en-US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 </a:t>
              </a:r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(</a:t>
              </a:r>
              <a:r>
                <a:rPr lang="ko-KR" altLang="en-US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자연어 처리</a:t>
              </a:r>
              <a:r>
                <a:rPr lang="en-US" altLang="ko-KR" sz="2200" dirty="0">
                  <a:latin typeface="S-Core Dream 4 Regular" panose="020B0203030302020204" pitchFamily="34" charset="-127"/>
                  <a:ea typeface="S-Core Dream 4 Regular" panose="020B0203030302020204" pitchFamily="34" charset="-127"/>
                </a:rPr>
                <a:t>) </a:t>
              </a:r>
              <a:endParaRPr lang="ko-KR" altLang="en-US" sz="2200" dirty="0">
                <a:latin typeface="S-Core Dream 4 Regular" panose="020B0203030302020204" pitchFamily="34" charset="-127"/>
                <a:ea typeface="S-Core Dream 4 Regular" panose="020B02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98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 flipH="1">
            <a:off x="269031" y="305570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69032" y="242596"/>
            <a:ext cx="11653935" cy="522514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50795" y="359168"/>
            <a:ext cx="834173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 dirty="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50514" y="414107"/>
            <a:ext cx="197843" cy="194688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0544507" y="375593"/>
            <a:ext cx="996979" cy="255149"/>
            <a:chOff x="9689491" y="466716"/>
            <a:chExt cx="996979" cy="255149"/>
          </a:xfrm>
        </p:grpSpPr>
        <p:sp>
          <p:nvSpPr>
            <p:cNvPr id="111" name="Google Shape;111;p2"/>
            <p:cNvSpPr/>
            <p:nvPr/>
          </p:nvSpPr>
          <p:spPr>
            <a:xfrm>
              <a:off x="9689491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063684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437008" y="472403"/>
              <a:ext cx="249462" cy="249462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0132540" y="545008"/>
              <a:ext cx="103983" cy="103983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 rot="2700000">
              <a:off x="10492447" y="589222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-2700000">
              <a:off x="10492446" y="586380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00025" y="1066000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Data preprocessing</a:t>
            </a:r>
            <a:endParaRPr sz="20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3B6451-A69B-6C49-9A3F-1F4678FD4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15" y="2466592"/>
            <a:ext cx="10518069" cy="175049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8" name="U자형 화살표[U] 7">
            <a:extLst>
              <a:ext uri="{FF2B5EF4-FFF2-40B4-BE49-F238E27FC236}">
                <a16:creationId xmlns:a16="http://schemas.microsoft.com/office/drawing/2014/main" id="{0993C644-464C-C04C-B86E-3419B64EABDC}"/>
              </a:ext>
            </a:extLst>
          </p:cNvPr>
          <p:cNvSpPr/>
          <p:nvPr/>
        </p:nvSpPr>
        <p:spPr>
          <a:xfrm rot="10800000" flipH="1">
            <a:off x="1549400" y="4191687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3" name="U자형 화살표[U] 22">
            <a:extLst>
              <a:ext uri="{FF2B5EF4-FFF2-40B4-BE49-F238E27FC236}">
                <a16:creationId xmlns:a16="http://schemas.microsoft.com/office/drawing/2014/main" id="{C12152AC-F891-8A49-B18C-B2FF55E2F52D}"/>
              </a:ext>
            </a:extLst>
          </p:cNvPr>
          <p:cNvSpPr/>
          <p:nvPr/>
        </p:nvSpPr>
        <p:spPr>
          <a:xfrm rot="10800000" flipH="1">
            <a:off x="2949325" y="4191687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4" name="U자형 화살표[U] 23">
            <a:extLst>
              <a:ext uri="{FF2B5EF4-FFF2-40B4-BE49-F238E27FC236}">
                <a16:creationId xmlns:a16="http://schemas.microsoft.com/office/drawing/2014/main" id="{F00F2537-B434-B142-95BB-8103C5DCD315}"/>
              </a:ext>
            </a:extLst>
          </p:cNvPr>
          <p:cNvSpPr/>
          <p:nvPr/>
        </p:nvSpPr>
        <p:spPr>
          <a:xfrm rot="10800000" flipH="1">
            <a:off x="4931253" y="4191687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5" name="U자형 화살표[U] 24">
            <a:extLst>
              <a:ext uri="{FF2B5EF4-FFF2-40B4-BE49-F238E27FC236}">
                <a16:creationId xmlns:a16="http://schemas.microsoft.com/office/drawing/2014/main" id="{92773402-79C8-5F49-9506-BF15FE0D4E8C}"/>
              </a:ext>
            </a:extLst>
          </p:cNvPr>
          <p:cNvSpPr/>
          <p:nvPr/>
        </p:nvSpPr>
        <p:spPr>
          <a:xfrm rot="10800000" flipH="1">
            <a:off x="6648237" y="4191687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6" name="U자형 화살표[U] 25">
            <a:extLst>
              <a:ext uri="{FF2B5EF4-FFF2-40B4-BE49-F238E27FC236}">
                <a16:creationId xmlns:a16="http://schemas.microsoft.com/office/drawing/2014/main" id="{CC55CE9A-9EDA-D94E-9931-C66B36A32ED7}"/>
              </a:ext>
            </a:extLst>
          </p:cNvPr>
          <p:cNvSpPr/>
          <p:nvPr/>
        </p:nvSpPr>
        <p:spPr>
          <a:xfrm rot="10800000" flipH="1">
            <a:off x="8193334" y="4186155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7" name="U자형 화살표[U] 26">
            <a:extLst>
              <a:ext uri="{FF2B5EF4-FFF2-40B4-BE49-F238E27FC236}">
                <a16:creationId xmlns:a16="http://schemas.microsoft.com/office/drawing/2014/main" id="{EB225013-084F-9F48-92AB-C3E8AA0CAE73}"/>
              </a:ext>
            </a:extLst>
          </p:cNvPr>
          <p:cNvSpPr/>
          <p:nvPr/>
        </p:nvSpPr>
        <p:spPr>
          <a:xfrm rot="10800000" flipH="1">
            <a:off x="9669138" y="4186155"/>
            <a:ext cx="1092200" cy="412881"/>
          </a:xfrm>
          <a:prstGeom prst="uturnArrow">
            <a:avLst>
              <a:gd name="adj1" fmla="val 21924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47717-0112-0C49-8A67-4D1F3180B038}"/>
              </a:ext>
            </a:extLst>
          </p:cNvPr>
          <p:cNvSpPr txBox="1"/>
          <p:nvPr/>
        </p:nvSpPr>
        <p:spPr>
          <a:xfrm>
            <a:off x="1502512" y="4688014"/>
            <a:ext cx="1185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소문자</a:t>
            </a:r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변환 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ED14B1-602E-FF47-A00A-D3A8F31C93B4}"/>
              </a:ext>
            </a:extLst>
          </p:cNvPr>
          <p:cNvSpPr txBox="1"/>
          <p:nvPr/>
        </p:nvSpPr>
        <p:spPr>
          <a:xfrm>
            <a:off x="2711442" y="4688013"/>
            <a:ext cx="1567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축약형</a:t>
            </a:r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단어 분리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F1A149-691C-2142-B92E-8F7A9D1340E6}"/>
              </a:ext>
            </a:extLst>
          </p:cNvPr>
          <p:cNvSpPr txBox="1"/>
          <p:nvPr/>
        </p:nvSpPr>
        <p:spPr>
          <a:xfrm>
            <a:off x="8146446" y="4688015"/>
            <a:ext cx="1185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불용어</a:t>
            </a:r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제거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F498E9-28DC-364C-BC7E-3871470A0A9C}"/>
              </a:ext>
            </a:extLst>
          </p:cNvPr>
          <p:cNvSpPr txBox="1"/>
          <p:nvPr/>
        </p:nvSpPr>
        <p:spPr>
          <a:xfrm>
            <a:off x="4693370" y="4688013"/>
            <a:ext cx="1567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구두점 제거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1756A-70A0-7D4C-AB7B-C06070232AC4}"/>
              </a:ext>
            </a:extLst>
          </p:cNvPr>
          <p:cNvSpPr txBox="1"/>
          <p:nvPr/>
        </p:nvSpPr>
        <p:spPr>
          <a:xfrm>
            <a:off x="6410354" y="4688013"/>
            <a:ext cx="1567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토큰화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62C73-776E-5F4B-B59A-C6C0AD8DDADA}"/>
              </a:ext>
            </a:extLst>
          </p:cNvPr>
          <p:cNvSpPr txBox="1"/>
          <p:nvPr/>
        </p:nvSpPr>
        <p:spPr>
          <a:xfrm>
            <a:off x="9184774" y="4688013"/>
            <a:ext cx="206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단어 리스트</a:t>
            </a:r>
            <a:r>
              <a:rPr kumimoji="1" lang="en-US" altLang="ko-KR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-&gt;</a:t>
            </a:r>
            <a:r>
              <a:rPr kumimoji="1" lang="ko-KR" altLang="en-US" dirty="0">
                <a:latin typeface="S-Core Dream 5 Medium" panose="020B0503030302020204" pitchFamily="34" charset="-127"/>
                <a:ea typeface="S-Core Dream 5 Medium" panose="020B0503030302020204" pitchFamily="34" charset="-127"/>
              </a:rPr>
              <a:t> 문장</a:t>
            </a:r>
            <a:endParaRPr kumimoji="1" lang="ko-Kore-KR" altLang="en-US" dirty="0">
              <a:latin typeface="S-Core Dream 5 Medium" panose="020B0503030302020204" pitchFamily="34" charset="-127"/>
              <a:ea typeface="S-Core Dream 5 Medium" panose="020B0503030302020204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5D4B4E-4338-6D4A-8402-FD3005BAFD54}"/>
              </a:ext>
            </a:extLst>
          </p:cNvPr>
          <p:cNvSpPr txBox="1"/>
          <p:nvPr/>
        </p:nvSpPr>
        <p:spPr>
          <a:xfrm>
            <a:off x="2571495" y="5188769"/>
            <a:ext cx="1847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(ex) she’s -&gt; she is</a:t>
            </a:r>
            <a:endParaRPr kumimoji="1" lang="ko-Kore-KR" altLang="en-US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201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9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269031" y="305570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69032" y="242596"/>
            <a:ext cx="11653935" cy="522514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50795" y="359168"/>
            <a:ext cx="834173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 dirty="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50514" y="414107"/>
            <a:ext cx="197843" cy="194688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0544507" y="375593"/>
            <a:ext cx="996979" cy="255149"/>
            <a:chOff x="9689491" y="466716"/>
            <a:chExt cx="996979" cy="255149"/>
          </a:xfrm>
        </p:grpSpPr>
        <p:sp>
          <p:nvSpPr>
            <p:cNvPr id="111" name="Google Shape;111;p2"/>
            <p:cNvSpPr/>
            <p:nvPr/>
          </p:nvSpPr>
          <p:spPr>
            <a:xfrm>
              <a:off x="9689491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063684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437008" y="472403"/>
              <a:ext cx="249462" cy="249462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0132540" y="545008"/>
              <a:ext cx="103983" cy="103983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 rot="2700000">
              <a:off x="10492447" y="589222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-2700000">
              <a:off x="10492446" y="586380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00025" y="1066000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-Core Dream 5 Medium" panose="020B0503030302020204" pitchFamily="34" charset="-127"/>
                <a:ea typeface="S-Core Dream 5 Medium" panose="020B0503030302020204" pitchFamily="34" charset="-127"/>
                <a:cs typeface="Malgun Gothic"/>
                <a:sym typeface="Malgun Gothic"/>
              </a:rPr>
              <a:t>Keyword extraction</a:t>
            </a:r>
            <a:endParaRPr sz="2000" dirty="0">
              <a:latin typeface="S-Core Dream 5 Medium" panose="020B0503030302020204" pitchFamily="34" charset="-127"/>
              <a:ea typeface="S-Core Dream 5 Medium" panose="020B0503030302020204" pitchFamily="34" charset="-127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000060-3843-4A6B-BD08-FCC8545D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5" y="1859302"/>
            <a:ext cx="2992825" cy="8299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4356E4-CB93-D642-9FA3-F7F25A4FB0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8518"/>
          <a:stretch/>
        </p:blipFill>
        <p:spPr>
          <a:xfrm>
            <a:off x="7522467" y="1877557"/>
            <a:ext cx="3793705" cy="435162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1F2F449-65B8-104E-B8B9-E3DF06307CF7}"/>
              </a:ext>
            </a:extLst>
          </p:cNvPr>
          <p:cNvSpPr/>
          <p:nvPr/>
        </p:nvSpPr>
        <p:spPr>
          <a:xfrm>
            <a:off x="972565" y="3129606"/>
            <a:ext cx="6096000" cy="3108543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>
            <a:spAutoFit/>
          </a:bodyPr>
          <a:lstStyle/>
          <a:p>
            <a:r>
              <a:rPr lang="en-US" altLang="ko-Kore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She's young, single and about to achieve her dream of creating incredible videogames. But then life throws her a one-two punch: a popular streamer gives her first game a scathing review. Even worse she finds out that same troublesome critic is now her new neighbor! A funny, sexy and all-too-real story about gaming, memes and social anxiety. Come for the plot, stay for the doggo.</a:t>
            </a:r>
          </a:p>
          <a:p>
            <a:endParaRPr lang="en-US" altLang="ko-Kore-KR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  <a:p>
            <a:b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</a:b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그녀는 젊고 독신이며 놀라운 비디오 게임을 만드는 꿈을 이루려고 합니다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.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하지만 인생은 그녀에게 </a:t>
            </a:r>
            <a:r>
              <a:rPr lang="ko-KR" altLang="en-US" dirty="0" err="1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원투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펀치를 던집니다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.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인기 있는 </a:t>
            </a:r>
            <a:r>
              <a:rPr lang="ko-KR" altLang="en-US" dirty="0" err="1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스트리머는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 그녀의 첫 게임에 신랄한 리뷰를 줍니다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.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설상가상으로 그녀는 똑같은 성가신 비평가가 이제 그녀의 새로운 이웃이라는 사실을 알게 됩니다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!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게임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, </a:t>
            </a:r>
            <a:r>
              <a:rPr lang="ko-KR" altLang="en-US" dirty="0" err="1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밈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,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사회적 불안에 관한 재미있고 섹시하며 지극히 현실적인 이야기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. </a:t>
            </a:r>
            <a:r>
              <a:rPr lang="ko-KR" altLang="en-US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줄거리를 보러 오세요</a:t>
            </a:r>
            <a:r>
              <a:rPr lang="en-US" altLang="ko-KR" dirty="0">
                <a:latin typeface="S-Core Dream 4 Regular" panose="020B0203030302020204" pitchFamily="34" charset="-127"/>
                <a:ea typeface="S-Core Dream 4 Regular" panose="020B0203030302020204" pitchFamily="34" charset="-127"/>
              </a:rPr>
              <a:t>.</a:t>
            </a:r>
            <a:endParaRPr lang="en-US" altLang="ko-Kore-KR" dirty="0">
              <a:latin typeface="S-Core Dream 4 Regular" panose="020B0203030302020204" pitchFamily="34" charset="-127"/>
              <a:ea typeface="S-Core Dream 4 Regular" panose="020B0203030302020204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437DCD-770E-4743-A037-0D6EBD20B73C}"/>
              </a:ext>
            </a:extLst>
          </p:cNvPr>
          <p:cNvSpPr/>
          <p:nvPr/>
        </p:nvSpPr>
        <p:spPr>
          <a:xfrm>
            <a:off x="7522467" y="2057813"/>
            <a:ext cx="2534349" cy="186519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608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3048000" y="3013522"/>
            <a:ext cx="6096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dirty="0">
                <a:solidFill>
                  <a:srgbClr val="79E3B6"/>
                </a:solidFill>
              </a:rPr>
              <a:t>THANK YOU</a:t>
            </a:r>
            <a:endParaRPr sz="4800" b="1" i="0" u="none" strike="noStrike" cap="none" dirty="0">
              <a:solidFill>
                <a:srgbClr val="BFBFBF"/>
              </a:solidFill>
              <a:ea typeface="S-Core Dream 5 Medium" panose="020B0503030302020204" pitchFamily="34" charset="-127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938EE6-6F31-BB46-9AA9-6F32575A289B}"/>
              </a:ext>
            </a:extLst>
          </p:cNvPr>
          <p:cNvSpPr txBox="1"/>
          <p:nvPr/>
        </p:nvSpPr>
        <p:spPr>
          <a:xfrm>
            <a:off x="5295900" y="37211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1775960"/>
      </p:ext>
    </p:extLst>
  </p:cSld>
  <p:clrMapOvr>
    <a:masterClrMapping/>
  </p:clrMapOvr>
</p:sld>
</file>

<file path=ppt/theme/theme1.xml><?xml version="1.0" encoding="utf-8"?>
<a:theme xmlns:a="http://schemas.openxmlformats.org/drawingml/2006/main" name="16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409</Words>
  <Application>Microsoft Macintosh PowerPoint</Application>
  <PresentationFormat>와이드스크린</PresentationFormat>
  <Paragraphs>98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S-Core Dream 4 Regular</vt:lpstr>
      <vt:lpstr>S-Core Dream 5 Medium</vt:lpstr>
      <vt:lpstr>Malgun Gothic</vt:lpstr>
      <vt:lpstr>Arial</vt:lpstr>
      <vt:lpstr>16_Office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이승연</cp:lastModifiedBy>
  <cp:revision>78</cp:revision>
  <dcterms:created xsi:type="dcterms:W3CDTF">2021-11-02T03:40:31Z</dcterms:created>
  <dcterms:modified xsi:type="dcterms:W3CDTF">2021-12-01T01:58:06Z</dcterms:modified>
</cp:coreProperties>
</file>