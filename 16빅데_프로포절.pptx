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70" r:id="rId5"/>
    <p:sldId id="260" r:id="rId6"/>
    <p:sldId id="261" r:id="rId7"/>
    <p:sldId id="271" r:id="rId8"/>
  </p:sldIdLst>
  <p:sldSz cx="12192000" cy="6858000"/>
  <p:notesSz cx="6858000" cy="9144000"/>
  <p:embeddedFontLst>
    <p:embeddedFont>
      <p:font typeface="Malgun Gothic" panose="020B0503020000020004" pitchFamily="50" charset="-127"/>
      <p:regular r:id="rId10"/>
      <p:bold r:id="rId11"/>
    </p:embeddedFont>
    <p:embeddedFont>
      <p:font typeface="Rix정고딕 L" panose="02020603020101020101" pitchFamily="18" charset="-127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mRgvplvWouS9MYHcn85uCLwD2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E7E7"/>
    <a:srgbClr val="9FEBCA"/>
    <a:srgbClr val="FFFFEB"/>
    <a:srgbClr val="B6F0D7"/>
    <a:srgbClr val="E6FAF1"/>
    <a:srgbClr val="DCF8EC"/>
    <a:srgbClr val="FFEBEB"/>
    <a:srgbClr val="FFD1D1"/>
    <a:srgbClr val="51DB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20aa02af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5275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</a:rPr>
              <a:t>id - Unique id identifying the comic.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</a:rPr>
              <a:t>Name - full name of the comic.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</a:rPr>
              <a:t>Writer- Author of the comic.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</a:rPr>
              <a:t>Likes- Total no. of Likes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</a:rPr>
              <a:t>genre - genres for comic.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</a:rPr>
              <a:t>rating - an average rating out of 10 for the comic.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</a:rPr>
              <a:t>Subscribers- Total no. of subscribers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</a:rPr>
              <a:t>Summary- Summary of the comic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</a:rPr>
              <a:t>Update - Day of the week for an update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en-US" sz="1050">
                <a:solidFill>
                  <a:schemeClr val="dk1"/>
                </a:solidFill>
                <a:highlight>
                  <a:srgbClr val="FFFFFF"/>
                </a:highlight>
              </a:rPr>
              <a:t>Reading Link- Link where you can read the comic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27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1020aa02af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020aa02afa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1020aa02afa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5789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20aa02afa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61" name="Google Shape;161;g1020aa02af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020aa02afa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1020aa02afa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4827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192103" y="1714482"/>
            <a:ext cx="3819900" cy="522600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4353538" y="1831739"/>
            <a:ext cx="35418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595959"/>
                </a:solidFill>
              </a:rPr>
              <a:t>BIGDATA TERM PROJECT</a:t>
            </a:r>
            <a:endParaRPr sz="14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478936" y="1884607"/>
            <a:ext cx="198084" cy="194925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87" name="Google Shape;87;p1"/>
          <p:cNvGrpSpPr/>
          <p:nvPr/>
        </p:nvGrpSpPr>
        <p:grpSpPr>
          <a:xfrm>
            <a:off x="7014907" y="1280068"/>
            <a:ext cx="996979" cy="255149"/>
            <a:chOff x="9689491" y="466716"/>
            <a:chExt cx="996979" cy="255149"/>
          </a:xfrm>
        </p:grpSpPr>
        <p:sp>
          <p:nvSpPr>
            <p:cNvPr id="88" name="Google Shape;88;p1"/>
            <p:cNvSpPr/>
            <p:nvPr/>
          </p:nvSpPr>
          <p:spPr>
            <a:xfrm>
              <a:off x="9689491" y="466716"/>
              <a:ext cx="249462" cy="249462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10063684" y="466716"/>
              <a:ext cx="249462" cy="249462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10437008" y="472403"/>
              <a:ext cx="249462" cy="249462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10132540" y="545008"/>
              <a:ext cx="103983" cy="103983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 rot="2700000">
              <a:off x="10492447" y="589222"/>
              <a:ext cx="144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 rot="-2700000">
              <a:off x="10492446" y="586380"/>
              <a:ext cx="144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5" name="Google Shape;95;p1"/>
          <p:cNvSpPr/>
          <p:nvPr/>
        </p:nvSpPr>
        <p:spPr>
          <a:xfrm>
            <a:off x="3048000" y="2340361"/>
            <a:ext cx="6096000" cy="18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79E3B6"/>
                </a:solidFill>
              </a:rPr>
              <a:t>WEBTOON RECOMMENDATION SYSTEM</a:t>
            </a:r>
            <a:r>
              <a:rPr lang="en-US" sz="4000" b="1" i="0" u="none" strike="noStrike" cap="none" dirty="0">
                <a:solidFill>
                  <a:srgbClr val="79E3B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 i="0" u="none" strike="noStrike" cap="none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699FBFA-1933-4FA3-B416-5B839CC0FE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797" y="4832893"/>
            <a:ext cx="662674" cy="654272"/>
          </a:xfrm>
          <a:prstGeom prst="rect">
            <a:avLst/>
          </a:prstGeom>
          <a:ln>
            <a:noFill/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D7AB5778-ABE0-402D-B487-80D1F6B082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777" y="4823189"/>
            <a:ext cx="663976" cy="663976"/>
          </a:xfrm>
          <a:prstGeom prst="rect">
            <a:avLst/>
          </a:prstGeom>
          <a:ln>
            <a:noFill/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42868FA-B6D3-463D-9A3C-D760EF205A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059" y="4832893"/>
            <a:ext cx="663976" cy="663976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9FABC1-1D34-41F9-BD69-1EBDA1F4030A}"/>
              </a:ext>
            </a:extLst>
          </p:cNvPr>
          <p:cNvSpPr txBox="1"/>
          <p:nvPr/>
        </p:nvSpPr>
        <p:spPr>
          <a:xfrm>
            <a:off x="3013299" y="5487166"/>
            <a:ext cx="1797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20153262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이현지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F632A5-4C34-4A26-A0F4-857037CA4336}"/>
              </a:ext>
            </a:extLst>
          </p:cNvPr>
          <p:cNvSpPr txBox="1"/>
          <p:nvPr/>
        </p:nvSpPr>
        <p:spPr>
          <a:xfrm>
            <a:off x="5325930" y="5487165"/>
            <a:ext cx="1797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20174127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이영재</a:t>
            </a:r>
            <a:endParaRPr lang="en-US" altLang="ko-KR" dirty="0">
              <a:solidFill>
                <a:schemeClr val="tx1">
                  <a:lumMod val="75000"/>
                  <a:lumOff val="25000"/>
                </a:schemeClr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365E77-ED26-43CC-AC50-995CE32E71B5}"/>
              </a:ext>
            </a:extLst>
          </p:cNvPr>
          <p:cNvSpPr txBox="1"/>
          <p:nvPr/>
        </p:nvSpPr>
        <p:spPr>
          <a:xfrm>
            <a:off x="7638561" y="5492568"/>
            <a:ext cx="1797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20170217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이승연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269031" y="305570"/>
            <a:ext cx="11653800" cy="6372900"/>
          </a:xfrm>
          <a:prstGeom prst="rect">
            <a:avLst/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269032" y="242596"/>
            <a:ext cx="11653935" cy="522514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50795" y="359168"/>
            <a:ext cx="8341730" cy="28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269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595959"/>
                </a:solidFill>
              </a:rPr>
              <a:t>WEBTOON RECOMMENDATION SYSTEM</a:t>
            </a:r>
            <a:endParaRPr sz="1400" b="0" i="0" u="none" strike="noStrike" cap="none" dirty="0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50514" y="414107"/>
            <a:ext cx="197843" cy="194688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0" name="Google Shape;110;p2"/>
          <p:cNvGrpSpPr/>
          <p:nvPr/>
        </p:nvGrpSpPr>
        <p:grpSpPr>
          <a:xfrm>
            <a:off x="10544507" y="375593"/>
            <a:ext cx="996979" cy="255149"/>
            <a:chOff x="9689491" y="466716"/>
            <a:chExt cx="996979" cy="255149"/>
          </a:xfrm>
        </p:grpSpPr>
        <p:sp>
          <p:nvSpPr>
            <p:cNvPr id="111" name="Google Shape;111;p2"/>
            <p:cNvSpPr/>
            <p:nvPr/>
          </p:nvSpPr>
          <p:spPr>
            <a:xfrm>
              <a:off x="9689491" y="466716"/>
              <a:ext cx="249462" cy="249462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0063684" y="466716"/>
              <a:ext cx="249462" cy="249462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437008" y="472403"/>
              <a:ext cx="249462" cy="249462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0132540" y="545008"/>
              <a:ext cx="103983" cy="103983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 rot="2700000">
              <a:off x="10492447" y="589222"/>
              <a:ext cx="144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 rot="-2700000">
              <a:off x="10492446" y="586380"/>
              <a:ext cx="144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18" name="Google Shape;118;p2"/>
          <p:cNvSpPr/>
          <p:nvPr/>
        </p:nvSpPr>
        <p:spPr>
          <a:xfrm>
            <a:off x="815065" y="1202788"/>
            <a:ext cx="157500" cy="157500"/>
          </a:xfrm>
          <a:prstGeom prst="ellipse">
            <a:avLst/>
          </a:prstGeom>
          <a:noFill/>
          <a:ln w="28575" cap="flat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100025" y="1066000"/>
            <a:ext cx="5883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Rix정고딕 L" panose="02020603020101020101" pitchFamily="18" charset="-127"/>
                <a:ea typeface="Rix정고딕 L" panose="02020603020101020101" pitchFamily="18" charset="-127"/>
                <a:cs typeface="Malgun Gothic"/>
                <a:sym typeface="Malgun Gothic"/>
              </a:rPr>
              <a:t>Data description</a:t>
            </a:r>
            <a:endParaRPr sz="2000" dirty="0">
              <a:latin typeface="Rix정고딕 L" panose="02020603020101020101" pitchFamily="18" charset="-127"/>
              <a:ea typeface="Rix정고딕 L" panose="02020603020101020101" pitchFamily="18" charset="-127"/>
              <a:cs typeface="Malgun Gothic"/>
              <a:sym typeface="Malgun Gothic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A305BB-1F46-4117-8820-ACE8B9E9B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755" y="1621386"/>
            <a:ext cx="8928352" cy="47565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020aa02afa_0_20"/>
          <p:cNvSpPr/>
          <p:nvPr/>
        </p:nvSpPr>
        <p:spPr>
          <a:xfrm>
            <a:off x="269031" y="305570"/>
            <a:ext cx="11653800" cy="6372900"/>
          </a:xfrm>
          <a:prstGeom prst="rect">
            <a:avLst/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g1020aa02afa_0_20"/>
          <p:cNvSpPr/>
          <p:nvPr/>
        </p:nvSpPr>
        <p:spPr>
          <a:xfrm>
            <a:off x="269032" y="242596"/>
            <a:ext cx="11653800" cy="522600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7" name="Google Shape;127;g1020aa02afa_0_20"/>
          <p:cNvSpPr/>
          <p:nvPr/>
        </p:nvSpPr>
        <p:spPr>
          <a:xfrm>
            <a:off x="550795" y="359168"/>
            <a:ext cx="8341800" cy="28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269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95959"/>
                </a:solidFill>
              </a:rPr>
              <a:t>WEBTOON RECOMMENDATION SYSTEM</a:t>
            </a:r>
            <a:endParaRPr sz="1400" b="0" i="0" u="none" strike="noStrike" cap="none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g1020aa02afa_0_20"/>
          <p:cNvSpPr/>
          <p:nvPr/>
        </p:nvSpPr>
        <p:spPr>
          <a:xfrm>
            <a:off x="650514" y="414107"/>
            <a:ext cx="198084" cy="194925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29" name="Google Shape;129;g1020aa02afa_0_20"/>
          <p:cNvGrpSpPr/>
          <p:nvPr/>
        </p:nvGrpSpPr>
        <p:grpSpPr>
          <a:xfrm>
            <a:off x="10544507" y="375593"/>
            <a:ext cx="997117" cy="255287"/>
            <a:chOff x="9689491" y="466716"/>
            <a:chExt cx="997117" cy="255287"/>
          </a:xfrm>
        </p:grpSpPr>
        <p:sp>
          <p:nvSpPr>
            <p:cNvPr id="130" name="Google Shape;130;g1020aa02afa_0_20"/>
            <p:cNvSpPr/>
            <p:nvPr/>
          </p:nvSpPr>
          <p:spPr>
            <a:xfrm>
              <a:off x="9689491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1" name="Google Shape;131;g1020aa02afa_0_20"/>
            <p:cNvSpPr/>
            <p:nvPr/>
          </p:nvSpPr>
          <p:spPr>
            <a:xfrm>
              <a:off x="10063684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" name="Google Shape;132;g1020aa02afa_0_20"/>
            <p:cNvSpPr/>
            <p:nvPr/>
          </p:nvSpPr>
          <p:spPr>
            <a:xfrm>
              <a:off x="10437008" y="472403"/>
              <a:ext cx="249600" cy="2496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3" name="Google Shape;133;g1020aa02afa_0_20"/>
            <p:cNvSpPr/>
            <p:nvPr/>
          </p:nvSpPr>
          <p:spPr>
            <a:xfrm>
              <a:off x="10132540" y="545008"/>
              <a:ext cx="104100" cy="1041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4" name="Google Shape;134;g1020aa02afa_0_20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5" name="Google Shape;135;g1020aa02afa_0_20"/>
            <p:cNvSpPr/>
            <p:nvPr/>
          </p:nvSpPr>
          <p:spPr>
            <a:xfrm rot="2700000">
              <a:off x="10492532" y="589185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6" name="Google Shape;136;g1020aa02afa_0_20"/>
            <p:cNvSpPr/>
            <p:nvPr/>
          </p:nvSpPr>
          <p:spPr>
            <a:xfrm rot="-2700000">
              <a:off x="10492412" y="586466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37" name="Google Shape;137;g1020aa02afa_0_20"/>
          <p:cNvSpPr/>
          <p:nvPr/>
        </p:nvSpPr>
        <p:spPr>
          <a:xfrm>
            <a:off x="815065" y="1202788"/>
            <a:ext cx="157500" cy="157500"/>
          </a:xfrm>
          <a:prstGeom prst="ellipse">
            <a:avLst/>
          </a:prstGeom>
          <a:noFill/>
          <a:ln w="28575" cap="flat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g1020aa02afa_0_20"/>
          <p:cNvSpPr txBox="1"/>
          <p:nvPr/>
        </p:nvSpPr>
        <p:spPr>
          <a:xfrm>
            <a:off x="1100025" y="1066000"/>
            <a:ext cx="5883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Rix정고딕 L" panose="02020603020101020101" pitchFamily="18" charset="-127"/>
                <a:ea typeface="Rix정고딕 L" panose="02020603020101020101" pitchFamily="18" charset="-127"/>
                <a:cs typeface="Malgun Gothic"/>
                <a:sym typeface="Malgun Gothic"/>
              </a:rPr>
              <a:t>Data description</a:t>
            </a:r>
            <a:endParaRPr sz="2000" dirty="0">
              <a:latin typeface="Rix정고딕 L" panose="02020603020101020101" pitchFamily="18" charset="-127"/>
              <a:ea typeface="Rix정고딕 L" panose="02020603020101020101" pitchFamily="18" charset="-127"/>
              <a:cs typeface="Malgun Gothic"/>
              <a:sym typeface="Malgun Gothic"/>
            </a:endParaRPr>
          </a:p>
        </p:txBody>
      </p:sp>
      <p:pic>
        <p:nvPicPr>
          <p:cNvPr id="139" name="Google Shape;139;g1020aa02afa_0_20"/>
          <p:cNvPicPr preferRelativeResize="0"/>
          <p:nvPr/>
        </p:nvPicPr>
        <p:blipFill rotWithShape="1">
          <a:blip r:embed="rId3">
            <a:alphaModFix/>
          </a:blip>
          <a:srcRect l="5242" t="16587" r="3749" b="7878"/>
          <a:stretch/>
        </p:blipFill>
        <p:spPr>
          <a:xfrm>
            <a:off x="815075" y="1685275"/>
            <a:ext cx="8242801" cy="434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1020aa02afa_0_20"/>
          <p:cNvSpPr txBox="1"/>
          <p:nvPr/>
        </p:nvSpPr>
        <p:spPr>
          <a:xfrm>
            <a:off x="9249325" y="1753076"/>
            <a:ext cx="3000000" cy="4488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&lt; Columns &gt;</a:t>
            </a:r>
            <a:endParaRPr sz="1600" b="1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152400" lvl="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Id 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Name 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Writer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Likes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Genre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Rating 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Subscribers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Summary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Update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Reading Link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020aa02afa_1_3"/>
          <p:cNvSpPr/>
          <p:nvPr/>
        </p:nvSpPr>
        <p:spPr>
          <a:xfrm>
            <a:off x="269032" y="242504"/>
            <a:ext cx="11653800" cy="6372900"/>
          </a:xfrm>
          <a:prstGeom prst="rect">
            <a:avLst/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" name="Google Shape;146;g1020aa02afa_1_3"/>
          <p:cNvSpPr/>
          <p:nvPr/>
        </p:nvSpPr>
        <p:spPr>
          <a:xfrm>
            <a:off x="269032" y="242596"/>
            <a:ext cx="11653800" cy="522600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g1020aa02afa_1_3"/>
          <p:cNvSpPr/>
          <p:nvPr/>
        </p:nvSpPr>
        <p:spPr>
          <a:xfrm>
            <a:off x="550795" y="359168"/>
            <a:ext cx="8341800" cy="28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269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95959"/>
                </a:solidFill>
              </a:rPr>
              <a:t>WEBTOON RECOMMENDATION SYSTEM</a:t>
            </a:r>
            <a:endParaRPr sz="1400" b="0" i="0" u="none" strike="noStrike" cap="none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Google Shape;148;g1020aa02afa_1_3"/>
          <p:cNvSpPr/>
          <p:nvPr/>
        </p:nvSpPr>
        <p:spPr>
          <a:xfrm>
            <a:off x="650514" y="414107"/>
            <a:ext cx="198084" cy="194925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9" name="Google Shape;149;g1020aa02afa_1_3"/>
          <p:cNvGrpSpPr/>
          <p:nvPr/>
        </p:nvGrpSpPr>
        <p:grpSpPr>
          <a:xfrm>
            <a:off x="10544507" y="375593"/>
            <a:ext cx="997117" cy="255287"/>
            <a:chOff x="9689491" y="466716"/>
            <a:chExt cx="997117" cy="255287"/>
          </a:xfrm>
        </p:grpSpPr>
        <p:sp>
          <p:nvSpPr>
            <p:cNvPr id="150" name="Google Shape;150;g1020aa02afa_1_3"/>
            <p:cNvSpPr/>
            <p:nvPr/>
          </p:nvSpPr>
          <p:spPr>
            <a:xfrm>
              <a:off x="9689491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1" name="Google Shape;151;g1020aa02afa_1_3"/>
            <p:cNvSpPr/>
            <p:nvPr/>
          </p:nvSpPr>
          <p:spPr>
            <a:xfrm>
              <a:off x="10063684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2" name="Google Shape;152;g1020aa02afa_1_3"/>
            <p:cNvSpPr/>
            <p:nvPr/>
          </p:nvSpPr>
          <p:spPr>
            <a:xfrm>
              <a:off x="10437008" y="472403"/>
              <a:ext cx="249600" cy="2496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3" name="Google Shape;153;g1020aa02afa_1_3"/>
            <p:cNvSpPr/>
            <p:nvPr/>
          </p:nvSpPr>
          <p:spPr>
            <a:xfrm>
              <a:off x="10132540" y="545008"/>
              <a:ext cx="104100" cy="1041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4" name="Google Shape;154;g1020aa02afa_1_3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5" name="Google Shape;155;g1020aa02afa_1_3"/>
            <p:cNvSpPr/>
            <p:nvPr/>
          </p:nvSpPr>
          <p:spPr>
            <a:xfrm rot="2700000">
              <a:off x="10492532" y="589185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6" name="Google Shape;156;g1020aa02afa_1_3"/>
            <p:cNvSpPr/>
            <p:nvPr/>
          </p:nvSpPr>
          <p:spPr>
            <a:xfrm rot="-2700000">
              <a:off x="10492412" y="586466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57" name="Google Shape;157;g1020aa02afa_1_3"/>
          <p:cNvSpPr/>
          <p:nvPr/>
        </p:nvSpPr>
        <p:spPr>
          <a:xfrm>
            <a:off x="815065" y="1202788"/>
            <a:ext cx="157500" cy="157500"/>
          </a:xfrm>
          <a:prstGeom prst="ellipse">
            <a:avLst/>
          </a:prstGeom>
          <a:noFill/>
          <a:ln w="28575" cap="flat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g1020aa02afa_1_3"/>
          <p:cNvSpPr txBox="1"/>
          <p:nvPr/>
        </p:nvSpPr>
        <p:spPr>
          <a:xfrm>
            <a:off x="1097006" y="1048903"/>
            <a:ext cx="5883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Malgun Gothic"/>
                <a:ea typeface="Malgun Gothic"/>
                <a:cs typeface="Malgun Gothic"/>
                <a:sym typeface="Malgun Gothic"/>
              </a:rPr>
              <a:t>Problem statement</a:t>
            </a:r>
            <a:endParaRPr sz="2000" dirty="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4D216A-B1AA-41A6-9E6B-573A51C0EF94}"/>
              </a:ext>
            </a:extLst>
          </p:cNvPr>
          <p:cNvSpPr txBox="1"/>
          <p:nvPr/>
        </p:nvSpPr>
        <p:spPr>
          <a:xfrm>
            <a:off x="3963833" y="2865624"/>
            <a:ext cx="19641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latin typeface="Rix정고딕 L" panose="02020603020101020101" pitchFamily="18" charset="-127"/>
                <a:ea typeface="Rix정고딕 L" panose="02020603020101020101" pitchFamily="18" charset="-127"/>
              </a:rPr>
              <a:t>웹툰 시장의 거대화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472C0-2063-4635-86A2-7B01BAF66B99}"/>
              </a:ext>
            </a:extLst>
          </p:cNvPr>
          <p:cNvSpPr txBox="1"/>
          <p:nvPr/>
        </p:nvSpPr>
        <p:spPr>
          <a:xfrm>
            <a:off x="6699954" y="2608714"/>
            <a:ext cx="18203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latin typeface="Rix정고딕 L" panose="02020603020101020101" pitchFamily="18" charset="-127"/>
                <a:ea typeface="Rix정고딕 L" panose="02020603020101020101" pitchFamily="18" charset="-127"/>
              </a:rPr>
              <a:t>양산형 장르 웹툰의 </a:t>
            </a:r>
            <a:endParaRPr lang="en-US" altLang="ko-KR" sz="2200" dirty="0"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r>
              <a:rPr lang="ko-KR" altLang="en-US" sz="2200" dirty="0">
                <a:latin typeface="Rix정고딕 L" panose="02020603020101020101" pitchFamily="18" charset="-127"/>
                <a:ea typeface="Rix정고딕 L" panose="02020603020101020101" pitchFamily="18" charset="-127"/>
              </a:rPr>
              <a:t>인기 편중</a:t>
            </a:r>
          </a:p>
        </p:txBody>
      </p:sp>
      <p:grpSp>
        <p:nvGrpSpPr>
          <p:cNvPr id="45" name="Google Shape;240;p4">
            <a:extLst>
              <a:ext uri="{FF2B5EF4-FFF2-40B4-BE49-F238E27FC236}">
                <a16:creationId xmlns:a16="http://schemas.microsoft.com/office/drawing/2014/main" id="{A29A93B7-8A51-4A74-B5EF-8A7A88735889}"/>
              </a:ext>
            </a:extLst>
          </p:cNvPr>
          <p:cNvGrpSpPr/>
          <p:nvPr/>
        </p:nvGrpSpPr>
        <p:grpSpPr>
          <a:xfrm>
            <a:off x="3357481" y="1847485"/>
            <a:ext cx="5491511" cy="2751788"/>
            <a:chOff x="2415102" y="2543807"/>
            <a:chExt cx="4907864" cy="2453932"/>
          </a:xfrm>
        </p:grpSpPr>
        <p:sp>
          <p:nvSpPr>
            <p:cNvPr id="46" name="Google Shape;241;p4">
              <a:extLst>
                <a:ext uri="{FF2B5EF4-FFF2-40B4-BE49-F238E27FC236}">
                  <a16:creationId xmlns:a16="http://schemas.microsoft.com/office/drawing/2014/main" id="{ED24EFC7-F587-4661-A14B-BE41B5E913D3}"/>
                </a:ext>
              </a:extLst>
            </p:cNvPr>
            <p:cNvSpPr/>
            <p:nvPr/>
          </p:nvSpPr>
          <p:spPr>
            <a:xfrm>
              <a:off x="2415102" y="2543807"/>
              <a:ext cx="2453932" cy="2453932"/>
            </a:xfrm>
            <a:prstGeom prst="arc">
              <a:avLst>
                <a:gd name="adj1" fmla="val 5401343"/>
                <a:gd name="adj2" fmla="val 17348"/>
              </a:avLst>
            </a:prstGeom>
            <a:noFill/>
            <a:ln w="19050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" name="Google Shape;242;p4">
              <a:extLst>
                <a:ext uri="{FF2B5EF4-FFF2-40B4-BE49-F238E27FC236}">
                  <a16:creationId xmlns:a16="http://schemas.microsoft.com/office/drawing/2014/main" id="{068EF33A-7014-47A2-827E-5F2C90600A0C}"/>
                </a:ext>
              </a:extLst>
            </p:cNvPr>
            <p:cNvSpPr/>
            <p:nvPr/>
          </p:nvSpPr>
          <p:spPr>
            <a:xfrm>
              <a:off x="4869034" y="2543807"/>
              <a:ext cx="2453932" cy="2453932"/>
            </a:xfrm>
            <a:prstGeom prst="arc">
              <a:avLst>
                <a:gd name="adj1" fmla="val 16228136"/>
                <a:gd name="adj2" fmla="val 10814259"/>
              </a:avLst>
            </a:prstGeom>
            <a:noFill/>
            <a:ln w="19050" cap="flat" cmpd="sng">
              <a:solidFill>
                <a:srgbClr val="7F7F7F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8" name="Google Shape;243;p4">
            <a:extLst>
              <a:ext uri="{FF2B5EF4-FFF2-40B4-BE49-F238E27FC236}">
                <a16:creationId xmlns:a16="http://schemas.microsoft.com/office/drawing/2014/main" id="{B7F22A9E-F904-46C1-9CC0-A4D3E7127E3A}"/>
              </a:ext>
            </a:extLst>
          </p:cNvPr>
          <p:cNvSpPr/>
          <p:nvPr/>
        </p:nvSpPr>
        <p:spPr>
          <a:xfrm>
            <a:off x="6056482" y="1676530"/>
            <a:ext cx="2942584" cy="3028526"/>
          </a:xfrm>
          <a:prstGeom prst="arc">
            <a:avLst>
              <a:gd name="adj1" fmla="val 13131816"/>
              <a:gd name="adj2" fmla="val 10814259"/>
            </a:avLst>
          </a:prstGeom>
          <a:noFill/>
          <a:ln w="19050" cap="flat" cmpd="sng">
            <a:solidFill>
              <a:srgbClr val="79E3B6"/>
            </a:solidFill>
            <a:prstDash val="solid"/>
            <a:miter lim="800000"/>
            <a:headEnd type="oval" w="med" len="med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" name="Google Shape;244;p4">
            <a:extLst>
              <a:ext uri="{FF2B5EF4-FFF2-40B4-BE49-F238E27FC236}">
                <a16:creationId xmlns:a16="http://schemas.microsoft.com/office/drawing/2014/main" id="{E305D4D3-BBE3-4859-AF70-900D24EBB843}"/>
              </a:ext>
            </a:extLst>
          </p:cNvPr>
          <p:cNvSpPr/>
          <p:nvPr/>
        </p:nvSpPr>
        <p:spPr>
          <a:xfrm>
            <a:off x="3129622" y="1678296"/>
            <a:ext cx="3021887" cy="3028526"/>
          </a:xfrm>
          <a:prstGeom prst="arc">
            <a:avLst>
              <a:gd name="adj1" fmla="val 2383978"/>
              <a:gd name="adj2" fmla="val 21596705"/>
            </a:avLst>
          </a:prstGeom>
          <a:noFill/>
          <a:ln w="19050" cap="flat" cmpd="sng">
            <a:solidFill>
              <a:srgbClr val="323F4F"/>
            </a:solidFill>
            <a:prstDash val="solid"/>
            <a:miter lim="800000"/>
            <a:headEnd type="oval" w="med" len="med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0" name="Google Shape;245;p4">
            <a:extLst>
              <a:ext uri="{FF2B5EF4-FFF2-40B4-BE49-F238E27FC236}">
                <a16:creationId xmlns:a16="http://schemas.microsoft.com/office/drawing/2014/main" id="{3A79B67A-84F0-4504-9379-FF8FA137B64B}"/>
              </a:ext>
            </a:extLst>
          </p:cNvPr>
          <p:cNvCxnSpPr>
            <a:cxnSpLocks/>
          </p:cNvCxnSpPr>
          <p:nvPr/>
        </p:nvCxnSpPr>
        <p:spPr>
          <a:xfrm>
            <a:off x="6732239" y="3526809"/>
            <a:ext cx="805" cy="8"/>
          </a:xfrm>
          <a:prstGeom prst="straightConnector1">
            <a:avLst/>
          </a:prstGeom>
          <a:noFill/>
          <a:ln w="19050" cap="flat" cmpd="sng">
            <a:solidFill>
              <a:srgbClr val="323F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" name="Google Shape;246;p4">
            <a:extLst>
              <a:ext uri="{FF2B5EF4-FFF2-40B4-BE49-F238E27FC236}">
                <a16:creationId xmlns:a16="http://schemas.microsoft.com/office/drawing/2014/main" id="{0857ECC3-360E-40EF-A313-9BBC1ED677F5}"/>
              </a:ext>
            </a:extLst>
          </p:cNvPr>
          <p:cNvSpPr/>
          <p:nvPr/>
        </p:nvSpPr>
        <p:spPr>
          <a:xfrm>
            <a:off x="3118743" y="1676530"/>
            <a:ext cx="3008836" cy="2961855"/>
          </a:xfrm>
          <a:prstGeom prst="arc">
            <a:avLst>
              <a:gd name="adj1" fmla="val 11292880"/>
              <a:gd name="adj2" fmla="val 15077511"/>
            </a:avLst>
          </a:prstGeom>
          <a:noFill/>
          <a:ln w="187325" cap="rnd" cmpd="sng">
            <a:solidFill>
              <a:srgbClr val="323F4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" name="Google Shape;247;p4">
            <a:extLst>
              <a:ext uri="{FF2B5EF4-FFF2-40B4-BE49-F238E27FC236}">
                <a16:creationId xmlns:a16="http://schemas.microsoft.com/office/drawing/2014/main" id="{2479E434-7794-4551-90AA-96DAEAF71797}"/>
              </a:ext>
            </a:extLst>
          </p:cNvPr>
          <p:cNvSpPr/>
          <p:nvPr/>
        </p:nvSpPr>
        <p:spPr>
          <a:xfrm>
            <a:off x="6021499" y="1736082"/>
            <a:ext cx="3021887" cy="3028526"/>
          </a:xfrm>
          <a:prstGeom prst="arc">
            <a:avLst>
              <a:gd name="adj1" fmla="val 970752"/>
              <a:gd name="adj2" fmla="val 4637610"/>
            </a:avLst>
          </a:prstGeom>
          <a:noFill/>
          <a:ln w="187325" cap="rnd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" name="Google Shape;248;p4">
            <a:extLst>
              <a:ext uri="{FF2B5EF4-FFF2-40B4-BE49-F238E27FC236}">
                <a16:creationId xmlns:a16="http://schemas.microsoft.com/office/drawing/2014/main" id="{7945E458-9D6C-4558-A457-FF21703C1935}"/>
              </a:ext>
            </a:extLst>
          </p:cNvPr>
          <p:cNvSpPr/>
          <p:nvPr/>
        </p:nvSpPr>
        <p:spPr>
          <a:xfrm>
            <a:off x="2332639" y="5467507"/>
            <a:ext cx="763774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51DBA0"/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WEBTOON RECOMMENDATION SYSTEM</a:t>
            </a:r>
            <a:endParaRPr sz="2400" b="1" dirty="0">
              <a:solidFill>
                <a:srgbClr val="51DBA0"/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</p:txBody>
      </p:sp>
      <p:cxnSp>
        <p:nvCxnSpPr>
          <p:cNvPr id="55" name="Google Shape;250;p4">
            <a:extLst>
              <a:ext uri="{FF2B5EF4-FFF2-40B4-BE49-F238E27FC236}">
                <a16:creationId xmlns:a16="http://schemas.microsoft.com/office/drawing/2014/main" id="{E57133D9-018C-4894-8A81-1EBE33BF3A7D}"/>
              </a:ext>
            </a:extLst>
          </p:cNvPr>
          <p:cNvCxnSpPr>
            <a:cxnSpLocks/>
          </p:cNvCxnSpPr>
          <p:nvPr/>
        </p:nvCxnSpPr>
        <p:spPr>
          <a:xfrm>
            <a:off x="6156907" y="3528576"/>
            <a:ext cx="939" cy="8"/>
          </a:xfrm>
          <a:prstGeom prst="straightConnector1">
            <a:avLst/>
          </a:prstGeom>
          <a:noFill/>
          <a:ln w="19050" cap="flat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172;p3">
            <a:extLst>
              <a:ext uri="{FF2B5EF4-FFF2-40B4-BE49-F238E27FC236}">
                <a16:creationId xmlns:a16="http://schemas.microsoft.com/office/drawing/2014/main" id="{6F8C94E4-B445-426B-B1D2-299695E38A55}"/>
              </a:ext>
            </a:extLst>
          </p:cNvPr>
          <p:cNvSpPr/>
          <p:nvPr/>
        </p:nvSpPr>
        <p:spPr>
          <a:xfrm>
            <a:off x="5726643" y="4622261"/>
            <a:ext cx="753188" cy="79789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8EB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lgun Gothic"/>
              <a:buNone/>
            </a:pPr>
            <a:endParaRPr sz="4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55933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020aa02afa_1_20"/>
          <p:cNvSpPr/>
          <p:nvPr/>
        </p:nvSpPr>
        <p:spPr>
          <a:xfrm>
            <a:off x="269031" y="242595"/>
            <a:ext cx="11653800" cy="6372900"/>
          </a:xfrm>
          <a:prstGeom prst="rect">
            <a:avLst/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g1020aa02afa_1_20"/>
          <p:cNvSpPr/>
          <p:nvPr/>
        </p:nvSpPr>
        <p:spPr>
          <a:xfrm>
            <a:off x="269032" y="242596"/>
            <a:ext cx="11653800" cy="522600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g1020aa02afa_1_20"/>
          <p:cNvSpPr/>
          <p:nvPr/>
        </p:nvSpPr>
        <p:spPr>
          <a:xfrm>
            <a:off x="550795" y="359168"/>
            <a:ext cx="8341800" cy="28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269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95959"/>
                </a:solidFill>
              </a:rPr>
              <a:t>WEBTOON RECOMMENDATION SYSTEM</a:t>
            </a:r>
            <a:endParaRPr sz="1400" b="0" i="0" u="none" strike="noStrike" cap="none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g1020aa02afa_1_20"/>
          <p:cNvSpPr/>
          <p:nvPr/>
        </p:nvSpPr>
        <p:spPr>
          <a:xfrm>
            <a:off x="650514" y="414107"/>
            <a:ext cx="198084" cy="194925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67" name="Google Shape;167;g1020aa02afa_1_20"/>
          <p:cNvGrpSpPr/>
          <p:nvPr/>
        </p:nvGrpSpPr>
        <p:grpSpPr>
          <a:xfrm>
            <a:off x="10544507" y="375593"/>
            <a:ext cx="997117" cy="255287"/>
            <a:chOff x="9689491" y="466716"/>
            <a:chExt cx="997117" cy="255287"/>
          </a:xfrm>
        </p:grpSpPr>
        <p:sp>
          <p:nvSpPr>
            <p:cNvPr id="168" name="Google Shape;168;g1020aa02afa_1_20"/>
            <p:cNvSpPr/>
            <p:nvPr/>
          </p:nvSpPr>
          <p:spPr>
            <a:xfrm>
              <a:off x="9689491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9" name="Google Shape;169;g1020aa02afa_1_20"/>
            <p:cNvSpPr/>
            <p:nvPr/>
          </p:nvSpPr>
          <p:spPr>
            <a:xfrm>
              <a:off x="10063684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0" name="Google Shape;170;g1020aa02afa_1_20"/>
            <p:cNvSpPr/>
            <p:nvPr/>
          </p:nvSpPr>
          <p:spPr>
            <a:xfrm>
              <a:off x="10437008" y="472403"/>
              <a:ext cx="249600" cy="2496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1" name="Google Shape;171;g1020aa02afa_1_20"/>
            <p:cNvSpPr/>
            <p:nvPr/>
          </p:nvSpPr>
          <p:spPr>
            <a:xfrm>
              <a:off x="10132540" y="545008"/>
              <a:ext cx="104100" cy="1041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2" name="Google Shape;172;g1020aa02afa_1_20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3" name="Google Shape;173;g1020aa02afa_1_20"/>
            <p:cNvSpPr/>
            <p:nvPr/>
          </p:nvSpPr>
          <p:spPr>
            <a:xfrm rot="2700000">
              <a:off x="10492532" y="589185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74" name="Google Shape;174;g1020aa02afa_1_20"/>
            <p:cNvSpPr/>
            <p:nvPr/>
          </p:nvSpPr>
          <p:spPr>
            <a:xfrm rot="-2700000">
              <a:off x="10492412" y="586466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75" name="Google Shape;175;g1020aa02afa_1_20"/>
          <p:cNvSpPr/>
          <p:nvPr/>
        </p:nvSpPr>
        <p:spPr>
          <a:xfrm>
            <a:off x="815065" y="1202788"/>
            <a:ext cx="157500" cy="157500"/>
          </a:xfrm>
          <a:prstGeom prst="ellipse">
            <a:avLst/>
          </a:prstGeom>
          <a:noFill/>
          <a:ln w="28575" cap="flat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g1020aa02afa_1_20"/>
          <p:cNvSpPr txBox="1"/>
          <p:nvPr/>
        </p:nvSpPr>
        <p:spPr>
          <a:xfrm>
            <a:off x="1090297" y="1046544"/>
            <a:ext cx="5883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Rix정고딕 L" panose="02020603020101020101" pitchFamily="18" charset="-127"/>
                <a:ea typeface="Rix정고딕 L" panose="02020603020101020101" pitchFamily="18" charset="-127"/>
                <a:cs typeface="Malgun Gothic"/>
                <a:sym typeface="Malgun Gothic"/>
              </a:rPr>
              <a:t>Methodology overview</a:t>
            </a:r>
            <a:endParaRPr sz="2000" dirty="0">
              <a:latin typeface="Rix정고딕 L" panose="02020603020101020101" pitchFamily="18" charset="-127"/>
              <a:ea typeface="Rix정고딕 L" panose="02020603020101020101" pitchFamily="18" charset="-127"/>
              <a:cs typeface="Malgun Gothic"/>
              <a:sym typeface="Malgun Gothic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35C57F-97D1-4F50-B23E-E18D7A75C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724" y="1558412"/>
            <a:ext cx="4289813" cy="452697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43DEDB0-A5BB-41A7-8F8A-7A7D0E7C4F7B}"/>
              </a:ext>
            </a:extLst>
          </p:cNvPr>
          <p:cNvSpPr/>
          <p:nvPr/>
        </p:nvSpPr>
        <p:spPr>
          <a:xfrm>
            <a:off x="4041525" y="3429000"/>
            <a:ext cx="1824254" cy="6079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E5E9CD-CAE0-4F27-BDB0-CE59B0E7C624}"/>
              </a:ext>
            </a:extLst>
          </p:cNvPr>
          <p:cNvSpPr txBox="1"/>
          <p:nvPr/>
        </p:nvSpPr>
        <p:spPr>
          <a:xfrm>
            <a:off x="4173712" y="3358313"/>
            <a:ext cx="1513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Rix정고딕 L" panose="02020603020101020101" pitchFamily="18" charset="-127"/>
                <a:ea typeface="Rix정고딕 L" panose="02020603020101020101" pitchFamily="18" charset="-127"/>
              </a:rPr>
              <a:t>Similar Webtoons</a:t>
            </a:r>
            <a:endParaRPr lang="ko-KR" altLang="en-US" sz="1600" b="1" dirty="0">
              <a:latin typeface="Rix정고딕 L" panose="02020603020101020101" pitchFamily="18" charset="-127"/>
              <a:ea typeface="Rix정고딕 L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7B1327-D3B9-4087-8368-F546C086EA73}"/>
              </a:ext>
            </a:extLst>
          </p:cNvPr>
          <p:cNvSpPr txBox="1"/>
          <p:nvPr/>
        </p:nvSpPr>
        <p:spPr>
          <a:xfrm>
            <a:off x="5943600" y="2349536"/>
            <a:ext cx="52247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 dirty="0">
                <a:solidFill>
                  <a:srgbClr val="51DBA0"/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CONTENT – BASED FILTERING</a:t>
            </a:r>
          </a:p>
          <a:p>
            <a:endParaRPr lang="en-US" altLang="ko-KR" sz="2200" b="1" dirty="0">
              <a:solidFill>
                <a:srgbClr val="323F4F"/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endParaRPr lang="en-US" altLang="ko-KR" sz="2200" b="1" dirty="0">
              <a:solidFill>
                <a:srgbClr val="323F4F"/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r>
              <a:rPr lang="en-US" altLang="ko-KR" sz="1800" dirty="0">
                <a:solidFill>
                  <a:srgbClr val="323F4F"/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 </a:t>
            </a:r>
            <a:r>
              <a:rPr lang="ko-KR" altLang="en-US" sz="1800" dirty="0">
                <a:solidFill>
                  <a:srgbClr val="323F4F"/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사용자에게서 과거에 만족한 웹툰을 입력 받음</a:t>
            </a:r>
            <a:endParaRPr lang="en-US" altLang="ko-KR" sz="1800" dirty="0">
              <a:solidFill>
                <a:srgbClr val="323F4F"/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endParaRPr lang="en-US" altLang="ko-KR" sz="1800" dirty="0">
              <a:solidFill>
                <a:srgbClr val="323F4F"/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r>
              <a:rPr lang="en-US" altLang="ko-KR" sz="1800" dirty="0">
                <a:solidFill>
                  <a:srgbClr val="323F4F"/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-&gt; </a:t>
            </a:r>
            <a:r>
              <a:rPr lang="ko-KR" altLang="en-US" sz="1800" dirty="0">
                <a:solidFill>
                  <a:srgbClr val="323F4F"/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입력된 웹툰과 유사도가 높은 웹툰을 선정</a:t>
            </a:r>
            <a:endParaRPr lang="en-US" altLang="ko-KR" sz="1800" dirty="0">
              <a:solidFill>
                <a:srgbClr val="323F4F"/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endParaRPr lang="en-US" altLang="ko-KR" sz="1800" dirty="0">
              <a:solidFill>
                <a:srgbClr val="323F4F"/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r>
              <a:rPr lang="en-US" altLang="ko-KR" sz="1800" dirty="0">
                <a:solidFill>
                  <a:srgbClr val="323F4F"/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-&gt; </a:t>
            </a:r>
            <a:r>
              <a:rPr lang="ko-KR" altLang="en-US" sz="1800" dirty="0">
                <a:solidFill>
                  <a:srgbClr val="323F4F"/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선정된 웹툰을 추천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020aa02afa_1_37"/>
          <p:cNvSpPr/>
          <p:nvPr/>
        </p:nvSpPr>
        <p:spPr>
          <a:xfrm>
            <a:off x="269032" y="242504"/>
            <a:ext cx="11653800" cy="6372900"/>
          </a:xfrm>
          <a:prstGeom prst="rect">
            <a:avLst/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63500" dir="2700000" algn="tl" rotWithShape="0">
              <a:srgbClr val="000000">
                <a:alpha val="2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g1020aa02afa_1_37"/>
          <p:cNvSpPr/>
          <p:nvPr/>
        </p:nvSpPr>
        <p:spPr>
          <a:xfrm>
            <a:off x="269032" y="242596"/>
            <a:ext cx="11653800" cy="522600"/>
          </a:xfrm>
          <a:prstGeom prst="rect">
            <a:avLst/>
          </a:prstGeom>
          <a:solidFill>
            <a:srgbClr val="9FEBCA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g1020aa02afa_1_37"/>
          <p:cNvSpPr/>
          <p:nvPr/>
        </p:nvSpPr>
        <p:spPr>
          <a:xfrm>
            <a:off x="550795" y="359168"/>
            <a:ext cx="8341800" cy="288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2225" cap="flat" cmpd="sng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72000" anchor="ctr" anchorCtr="0">
            <a:noAutofit/>
          </a:bodyPr>
          <a:lstStyle/>
          <a:p>
            <a:pPr marL="26987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595959"/>
                </a:solidFill>
              </a:rPr>
              <a:t>WEBTOON RECOMMENDATION SYSTEM</a:t>
            </a:r>
            <a:endParaRPr sz="1400" b="0" i="0" u="none" strike="noStrike" cap="none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g1020aa02afa_1_37"/>
          <p:cNvSpPr/>
          <p:nvPr/>
        </p:nvSpPr>
        <p:spPr>
          <a:xfrm>
            <a:off x="650514" y="414107"/>
            <a:ext cx="198084" cy="194925"/>
          </a:xfrm>
          <a:custGeom>
            <a:avLst/>
            <a:gdLst/>
            <a:ahLst/>
            <a:cxnLst/>
            <a:rect l="l" t="t" r="r" b="b"/>
            <a:pathLst>
              <a:path w="337165" h="331788" extrusionOk="0">
                <a:moveTo>
                  <a:pt x="128587" y="35720"/>
                </a:moveTo>
                <a:cubicBezTo>
                  <a:pt x="77297" y="35720"/>
                  <a:pt x="35719" y="77298"/>
                  <a:pt x="35719" y="128588"/>
                </a:cubicBezTo>
                <a:cubicBezTo>
                  <a:pt x="35719" y="179878"/>
                  <a:pt x="77297" y="221456"/>
                  <a:pt x="128587" y="221456"/>
                </a:cubicBezTo>
                <a:cubicBezTo>
                  <a:pt x="179877" y="221456"/>
                  <a:pt x="221455" y="179878"/>
                  <a:pt x="221455" y="128588"/>
                </a:cubicBezTo>
                <a:cubicBezTo>
                  <a:pt x="221455" y="77298"/>
                  <a:pt x="179877" y="35720"/>
                  <a:pt x="128587" y="35720"/>
                </a:cubicBezTo>
                <a:close/>
                <a:moveTo>
                  <a:pt x="128588" y="0"/>
                </a:moveTo>
                <a:cubicBezTo>
                  <a:pt x="199605" y="0"/>
                  <a:pt x="257176" y="57571"/>
                  <a:pt x="257176" y="128588"/>
                </a:cubicBezTo>
                <a:cubicBezTo>
                  <a:pt x="257176" y="146342"/>
                  <a:pt x="253578" y="163256"/>
                  <a:pt x="247071" y="178640"/>
                </a:cubicBezTo>
                <a:lnTo>
                  <a:pt x="234445" y="197368"/>
                </a:lnTo>
                <a:lnTo>
                  <a:pt x="235519" y="197813"/>
                </a:lnTo>
                <a:cubicBezTo>
                  <a:pt x="267170" y="229463"/>
                  <a:pt x="298820" y="261115"/>
                  <a:pt x="330470" y="292765"/>
                </a:cubicBezTo>
                <a:cubicBezTo>
                  <a:pt x="339397" y="301692"/>
                  <a:pt x="339397" y="316167"/>
                  <a:pt x="330470" y="325094"/>
                </a:cubicBezTo>
                <a:lnTo>
                  <a:pt x="330470" y="325092"/>
                </a:lnTo>
                <a:cubicBezTo>
                  <a:pt x="321542" y="334020"/>
                  <a:pt x="307068" y="334020"/>
                  <a:pt x="298141" y="325092"/>
                </a:cubicBezTo>
                <a:lnTo>
                  <a:pt x="203415" y="230367"/>
                </a:lnTo>
                <a:lnTo>
                  <a:pt x="178640" y="247071"/>
                </a:lnTo>
                <a:cubicBezTo>
                  <a:pt x="163256" y="253578"/>
                  <a:pt x="146343" y="257176"/>
                  <a:pt x="128588" y="257176"/>
                </a:cubicBezTo>
                <a:cubicBezTo>
                  <a:pt x="57571" y="257176"/>
                  <a:pt x="0" y="199605"/>
                  <a:pt x="0" y="128588"/>
                </a:cubicBezTo>
                <a:cubicBezTo>
                  <a:pt x="0" y="57571"/>
                  <a:pt x="57571" y="0"/>
                  <a:pt x="128588" y="0"/>
                </a:cubicBezTo>
                <a:close/>
              </a:path>
            </a:pathLst>
          </a:cu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7" name="Google Shape;187;g1020aa02afa_1_37"/>
          <p:cNvGrpSpPr/>
          <p:nvPr/>
        </p:nvGrpSpPr>
        <p:grpSpPr>
          <a:xfrm>
            <a:off x="10544507" y="375593"/>
            <a:ext cx="997117" cy="255287"/>
            <a:chOff x="9689491" y="466716"/>
            <a:chExt cx="997117" cy="255287"/>
          </a:xfrm>
        </p:grpSpPr>
        <p:sp>
          <p:nvSpPr>
            <p:cNvPr id="188" name="Google Shape;188;g1020aa02afa_1_37"/>
            <p:cNvSpPr/>
            <p:nvPr/>
          </p:nvSpPr>
          <p:spPr>
            <a:xfrm>
              <a:off x="9689491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9" name="Google Shape;189;g1020aa02afa_1_37"/>
            <p:cNvSpPr/>
            <p:nvPr/>
          </p:nvSpPr>
          <p:spPr>
            <a:xfrm>
              <a:off x="10063684" y="466716"/>
              <a:ext cx="249600" cy="249600"/>
            </a:xfrm>
            <a:prstGeom prst="ellipse">
              <a:avLst/>
            </a:prstGeom>
            <a:solidFill>
              <a:schemeClr val="lt1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0" name="Google Shape;190;g1020aa02afa_1_37"/>
            <p:cNvSpPr/>
            <p:nvPr/>
          </p:nvSpPr>
          <p:spPr>
            <a:xfrm>
              <a:off x="10437008" y="472403"/>
              <a:ext cx="249600" cy="2496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1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1" name="Google Shape;191;g1020aa02afa_1_37"/>
            <p:cNvSpPr/>
            <p:nvPr/>
          </p:nvSpPr>
          <p:spPr>
            <a:xfrm>
              <a:off x="10132540" y="545008"/>
              <a:ext cx="104100" cy="104100"/>
            </a:xfrm>
            <a:prstGeom prst="ellipse">
              <a:avLst/>
            </a:prstGeom>
            <a:solidFill>
              <a:srgbClr val="2FEACB"/>
            </a:solidFill>
            <a:ln w="22225" cap="flat" cmpd="sng">
              <a:solidFill>
                <a:srgbClr val="59595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2" name="Google Shape;192;g1020aa02afa_1_37"/>
            <p:cNvSpPr/>
            <p:nvPr/>
          </p:nvSpPr>
          <p:spPr>
            <a:xfrm>
              <a:off x="9760222" y="634215"/>
              <a:ext cx="108000" cy="25200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3" name="Google Shape;193;g1020aa02afa_1_37"/>
            <p:cNvSpPr/>
            <p:nvPr/>
          </p:nvSpPr>
          <p:spPr>
            <a:xfrm rot="2700000">
              <a:off x="10492532" y="589185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4" name="Google Shape;194;g1020aa02afa_1_37"/>
            <p:cNvSpPr/>
            <p:nvPr/>
          </p:nvSpPr>
          <p:spPr>
            <a:xfrm rot="-2700000">
              <a:off x="10492412" y="586466"/>
              <a:ext cx="143826" cy="25032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95" name="Google Shape;195;g1020aa02afa_1_37"/>
          <p:cNvSpPr/>
          <p:nvPr/>
        </p:nvSpPr>
        <p:spPr>
          <a:xfrm>
            <a:off x="815065" y="1202788"/>
            <a:ext cx="157500" cy="157500"/>
          </a:xfrm>
          <a:prstGeom prst="ellipse">
            <a:avLst/>
          </a:prstGeom>
          <a:noFill/>
          <a:ln w="28575" cap="flat" cmpd="sng">
            <a:solidFill>
              <a:srgbClr val="79E3B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g1020aa02afa_1_37"/>
          <p:cNvSpPr txBox="1"/>
          <p:nvPr/>
        </p:nvSpPr>
        <p:spPr>
          <a:xfrm>
            <a:off x="1100025" y="1027088"/>
            <a:ext cx="5883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Rix정고딕 L" panose="02020603020101020101" pitchFamily="18" charset="-127"/>
                <a:ea typeface="Rix정고딕 L" panose="02020603020101020101" pitchFamily="18" charset="-127"/>
                <a:cs typeface="Malgun Gothic"/>
                <a:sym typeface="Malgun Gothic"/>
              </a:rPr>
              <a:t>Analysis plan</a:t>
            </a:r>
            <a:endParaRPr sz="2000" dirty="0">
              <a:latin typeface="Rix정고딕 L" panose="02020603020101020101" pitchFamily="18" charset="-127"/>
              <a:ea typeface="Rix정고딕 L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EEA18E-5294-4AE9-B2EF-279DDA8AE37B}"/>
              </a:ext>
            </a:extLst>
          </p:cNvPr>
          <p:cNvSpPr/>
          <p:nvPr/>
        </p:nvSpPr>
        <p:spPr>
          <a:xfrm>
            <a:off x="4680870" y="2064467"/>
            <a:ext cx="5802390" cy="3421929"/>
          </a:xfrm>
          <a:prstGeom prst="roundRect">
            <a:avLst/>
          </a:prstGeom>
          <a:solidFill>
            <a:srgbClr val="FFFFEB"/>
          </a:solidFill>
          <a:ln>
            <a:solidFill>
              <a:srgbClr val="FFFF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A60164-2B11-45EE-8FDF-AF07BE84EA16}"/>
              </a:ext>
            </a:extLst>
          </p:cNvPr>
          <p:cNvSpPr txBox="1"/>
          <p:nvPr/>
        </p:nvSpPr>
        <p:spPr>
          <a:xfrm>
            <a:off x="5214634" y="2498594"/>
            <a:ext cx="69260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    Subscribers, Likes              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목적에 부합</a:t>
            </a:r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X </a:t>
            </a:r>
          </a:p>
          <a:p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    Rating, Genre             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주요 데이터로 사용</a:t>
            </a:r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 필요시</a:t>
            </a:r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r>
              <a:rPr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    Summary            keyword </a:t>
            </a:r>
            <a:r>
              <a:rPr lang="ko-KR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Rix정고딕 L" panose="02020603020101020101" pitchFamily="18" charset="-127"/>
                <a:ea typeface="Rix정고딕 L" panose="02020603020101020101" pitchFamily="18" charset="-127"/>
              </a:rPr>
              <a:t>추출</a:t>
            </a:r>
          </a:p>
        </p:txBody>
      </p:sp>
      <p:sp>
        <p:nvSpPr>
          <p:cNvPr id="19" name="Google Shape;172;p3">
            <a:extLst>
              <a:ext uri="{FF2B5EF4-FFF2-40B4-BE49-F238E27FC236}">
                <a16:creationId xmlns:a16="http://schemas.microsoft.com/office/drawing/2014/main" id="{15937850-CC79-42A8-A0AB-A8E3E6895F44}"/>
              </a:ext>
            </a:extLst>
          </p:cNvPr>
          <p:cNvSpPr/>
          <p:nvPr/>
        </p:nvSpPr>
        <p:spPr>
          <a:xfrm rot="16200000">
            <a:off x="7723144" y="2432102"/>
            <a:ext cx="492412" cy="48280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6F0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lgun Gothic"/>
              <a:buNone/>
            </a:pPr>
            <a:endParaRPr sz="4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Google Shape;172;p3">
            <a:extLst>
              <a:ext uri="{FF2B5EF4-FFF2-40B4-BE49-F238E27FC236}">
                <a16:creationId xmlns:a16="http://schemas.microsoft.com/office/drawing/2014/main" id="{E31FBF57-6845-4FE5-8E4B-F016A8FABFCC}"/>
              </a:ext>
            </a:extLst>
          </p:cNvPr>
          <p:cNvSpPr/>
          <p:nvPr/>
        </p:nvSpPr>
        <p:spPr>
          <a:xfrm rot="16200000">
            <a:off x="7259192" y="3263291"/>
            <a:ext cx="492412" cy="48280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6F0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lgun Gothic"/>
              <a:buNone/>
            </a:pPr>
            <a:endParaRPr sz="4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172;p3">
            <a:extLst>
              <a:ext uri="{FF2B5EF4-FFF2-40B4-BE49-F238E27FC236}">
                <a16:creationId xmlns:a16="http://schemas.microsoft.com/office/drawing/2014/main" id="{6D6F2440-2A77-400E-BB2E-42029E771958}"/>
              </a:ext>
            </a:extLst>
          </p:cNvPr>
          <p:cNvSpPr/>
          <p:nvPr/>
        </p:nvSpPr>
        <p:spPr>
          <a:xfrm rot="16200000">
            <a:off x="6804668" y="4648774"/>
            <a:ext cx="492412" cy="48280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6F0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algun Gothic"/>
              <a:buNone/>
            </a:pPr>
            <a:endParaRPr sz="48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140;g1020aa02afa_0_20">
            <a:extLst>
              <a:ext uri="{FF2B5EF4-FFF2-40B4-BE49-F238E27FC236}">
                <a16:creationId xmlns:a16="http://schemas.microsoft.com/office/drawing/2014/main" id="{4EBC5E1A-BB3E-4E32-81DB-ACDF039F8D7E}"/>
              </a:ext>
            </a:extLst>
          </p:cNvPr>
          <p:cNvSpPr txBox="1"/>
          <p:nvPr/>
        </p:nvSpPr>
        <p:spPr>
          <a:xfrm>
            <a:off x="1812848" y="1546811"/>
            <a:ext cx="3000000" cy="4488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&lt; Columns &gt;</a:t>
            </a:r>
            <a:endParaRPr sz="1600" b="1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152400" lvl="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Id 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Name 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Writer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Likes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Genre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Rating 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Subscribers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Summary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Update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  <a:p>
            <a:pPr marL="1524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Rix정고딕 L" panose="02020603020101020101" pitchFamily="18" charset="-127"/>
                <a:ea typeface="Rix정고딕 L" panose="02020603020101020101" pitchFamily="18" charset="-127"/>
              </a:rPr>
              <a:t>- Reading Link</a:t>
            </a:r>
            <a:endParaRPr sz="1600" dirty="0">
              <a:solidFill>
                <a:schemeClr val="dk1"/>
              </a:solidFill>
              <a:highlight>
                <a:srgbClr val="FFFFFF"/>
              </a:highlight>
              <a:latin typeface="Rix정고딕 L" panose="02020603020101020101" pitchFamily="18" charset="-127"/>
              <a:ea typeface="Rix정고딕 L" panose="02020603020101020101" pitchFamily="18" charset="-127"/>
            </a:endParaRPr>
          </a:p>
        </p:txBody>
      </p:sp>
      <p:sp>
        <p:nvSpPr>
          <p:cNvPr id="26" name="Google Shape;214;p3">
            <a:extLst>
              <a:ext uri="{FF2B5EF4-FFF2-40B4-BE49-F238E27FC236}">
                <a16:creationId xmlns:a16="http://schemas.microsoft.com/office/drawing/2014/main" id="{CEDB63B5-7DB2-40E0-B4FF-16875BBC8761}"/>
              </a:ext>
            </a:extLst>
          </p:cNvPr>
          <p:cNvSpPr/>
          <p:nvPr/>
        </p:nvSpPr>
        <p:spPr>
          <a:xfrm>
            <a:off x="5214634" y="4811456"/>
            <a:ext cx="157437" cy="157437"/>
          </a:xfrm>
          <a:prstGeom prst="ellipse">
            <a:avLst/>
          </a:prstGeom>
          <a:noFill/>
          <a:ln w="28575" cap="flat" cmpd="sng">
            <a:solidFill>
              <a:schemeClr val="tx2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" name="Google Shape;214;p3">
            <a:extLst>
              <a:ext uri="{FF2B5EF4-FFF2-40B4-BE49-F238E27FC236}">
                <a16:creationId xmlns:a16="http://schemas.microsoft.com/office/drawing/2014/main" id="{529D4D69-5EA0-4E6F-B2AF-1740E66AC4F5}"/>
              </a:ext>
            </a:extLst>
          </p:cNvPr>
          <p:cNvSpPr/>
          <p:nvPr/>
        </p:nvSpPr>
        <p:spPr>
          <a:xfrm>
            <a:off x="5217525" y="3425973"/>
            <a:ext cx="157437" cy="157437"/>
          </a:xfrm>
          <a:prstGeom prst="ellipse">
            <a:avLst/>
          </a:prstGeom>
          <a:noFill/>
          <a:ln w="28575" cap="flat" cmpd="sng">
            <a:solidFill>
              <a:schemeClr val="tx2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214;p3">
            <a:extLst>
              <a:ext uri="{FF2B5EF4-FFF2-40B4-BE49-F238E27FC236}">
                <a16:creationId xmlns:a16="http://schemas.microsoft.com/office/drawing/2014/main" id="{20A8A0E8-3928-4B70-9CCB-DDFD2C0EF549}"/>
              </a:ext>
            </a:extLst>
          </p:cNvPr>
          <p:cNvSpPr/>
          <p:nvPr/>
        </p:nvSpPr>
        <p:spPr>
          <a:xfrm>
            <a:off x="5217525" y="2594784"/>
            <a:ext cx="157437" cy="157437"/>
          </a:xfrm>
          <a:prstGeom prst="ellipse">
            <a:avLst/>
          </a:prstGeom>
          <a:noFill/>
          <a:ln w="28575" cap="flat" cmpd="sng">
            <a:solidFill>
              <a:schemeClr val="tx2">
                <a:lumMod val="5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7E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3048000" y="3013522"/>
            <a:ext cx="60960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4800" b="1" dirty="0">
                <a:solidFill>
                  <a:srgbClr val="79E3B6"/>
                </a:solidFill>
              </a:rPr>
              <a:t>END</a:t>
            </a:r>
            <a:endParaRPr sz="4800" b="1" i="0" u="none" strike="noStrike" cap="none" dirty="0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75960"/>
      </p:ext>
    </p:extLst>
  </p:cSld>
  <p:clrMapOvr>
    <a:masterClrMapping/>
  </p:clrMapOvr>
</p:sld>
</file>

<file path=ppt/theme/theme1.xml><?xml version="1.0" encoding="utf-8"?>
<a:theme xmlns:a="http://schemas.openxmlformats.org/drawingml/2006/main" name="16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216</Words>
  <Application>Microsoft Office PowerPoint</Application>
  <PresentationFormat>와이드스크린</PresentationFormat>
  <Paragraphs>72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Rix정고딕 L</vt:lpstr>
      <vt:lpstr>Arial</vt:lpstr>
      <vt:lpstr>Malgun Gothic</vt:lpstr>
      <vt:lpstr>16_Office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이현지</cp:lastModifiedBy>
  <cp:revision>18</cp:revision>
  <dcterms:created xsi:type="dcterms:W3CDTF">2021-11-02T03:40:31Z</dcterms:created>
  <dcterms:modified xsi:type="dcterms:W3CDTF">2021-11-16T15:14:56Z</dcterms:modified>
</cp:coreProperties>
</file>